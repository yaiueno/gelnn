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376D"/>
        </a:solidFill>
        <a:effectLst/>
      </p:bgPr>
    </p:bg>
    <p:spTree>
      <p:nvGrpSpPr>
        <p:cNvPr id="1" name=""/>
        <p:cNvGrpSpPr/>
        <p:nvPr/>
      </p:nvGrpSpPr>
      <p:grpSpPr/>
      <p:sp>
        <p:nvSpPr>
          <p:cNvPr id="2" name="Oval 1"/>
          <p:cNvSpPr/>
          <p:nvPr/>
        </p:nvSpPr>
        <p:spPr>
          <a:xfrm>
            <a:off x="8534095" y="3200400"/>
            <a:ext cx="5486400" cy="5486400"/>
          </a:xfrm>
          <a:prstGeom prst="ellipse">
            <a:avLst/>
          </a:prstGeom>
          <a:solidFill>
            <a:srgbClr val="1E41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143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2834640"/>
            <a:ext cx="2743200" cy="4572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371600"/>
            <a:ext cx="9144000" cy="1371600"/>
          </a:xfrm>
          <a:prstGeom prst="rect">
            <a:avLst/>
          </a:prstGeom>
          <a:noFill/>
        </p:spPr>
        <p:txBody>
          <a:bodyPr wrap="square">
            <a:spAutoFit/>
          </a:bodyPr>
          <a:lstStyle/>
          <a:p>
            <a:pPr algn="l"/>
            <a:r>
              <a:rPr sz="4400" b="1" i="0">
                <a:solidFill>
                  <a:srgbClr val="FFFFFF"/>
                </a:solidFill>
                <a:latin typeface="Meiryo UI"/>
              </a:rPr>
              <a:t>イオン液体で作成した</a:t>
            </a:r>
          </a:p>
          <a:p>
            <a:pPr algn="l"/>
            <a:r>
              <a:rPr sz="5200" b="1" i="0">
                <a:solidFill>
                  <a:srgbClr val="00A4EF"/>
                </a:solidFill>
                <a:latin typeface="Meiryo UI"/>
              </a:rPr>
              <a:t>DMAAmゲル</a:t>
            </a:r>
          </a:p>
        </p:txBody>
      </p:sp>
      <p:sp>
        <p:nvSpPr>
          <p:cNvPr id="6" name="TextBox 5"/>
          <p:cNvSpPr txBox="1"/>
          <p:nvPr/>
        </p:nvSpPr>
        <p:spPr>
          <a:xfrm>
            <a:off x="1097280" y="3108960"/>
            <a:ext cx="7315200" cy="1097280"/>
          </a:xfrm>
          <a:prstGeom prst="rect">
            <a:avLst/>
          </a:prstGeom>
          <a:noFill/>
        </p:spPr>
        <p:txBody>
          <a:bodyPr wrap="square">
            <a:spAutoFit/>
          </a:bodyPr>
          <a:lstStyle/>
          <a:p>
            <a:pPr algn="l">
              <a:lnSpc>
                <a:spcPts val="2800"/>
              </a:lnSpc>
            </a:pPr>
            <a:r>
              <a:rPr sz="1800" b="0" i="0">
                <a:solidFill>
                  <a:srgbClr val="B4C8E6"/>
                </a:solidFill>
                <a:latin typeface="Meiryo UI"/>
              </a:rPr>
              <a:t>ソフトマターセンサー材料としての機械特性・電気特性の評価</a:t>
            </a:r>
          </a:p>
        </p:txBody>
      </p:sp>
      <p:sp>
        <p:nvSpPr>
          <p:cNvPr id="7" name="TextBox 6"/>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19376D"/>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実験の背景</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2 / 20</a:t>
            </a:r>
          </a:p>
        </p:txBody>
      </p:sp>
      <p:sp>
        <p:nvSpPr>
          <p:cNvPr id="5" name="TextBox 4"/>
          <p:cNvSpPr txBox="1"/>
          <p:nvPr/>
        </p:nvSpPr>
        <p:spPr>
          <a:xfrm>
            <a:off x="548640" y="1097280"/>
            <a:ext cx="11094415" cy="539496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1. 背景</a:t>
            </a:r>
          </a:p>
          <a:p>
            <a:pPr>
              <a:lnSpc>
                <a:spcPts val="2380"/>
              </a:lnSpc>
              <a:spcBef>
                <a:spcPts val="300"/>
              </a:spcBef>
              <a:spcAft>
                <a:spcPts val="300"/>
              </a:spcAft>
            </a:pPr>
            <a:r>
              <a:rPr sz="1400" b="0" i="0">
                <a:solidFill>
                  <a:srgbClr val="2D2D30"/>
                </a:solidFill>
                <a:latin typeface="Meiryo UI"/>
              </a:rPr>
              <a:t>ソフトマターセンサーは、ウェアラブルデバイスや生体計測などの医療分野に加え、ロボット分野への応用においても高い需要がある。これらの用途では、柔軟性と変形追従性を兼ね備えた材料が求められる。その候補材料としてゲルに着目した。</a:t>
            </a:r>
          </a:p>
          <a:p>
            <a:pPr>
              <a:lnSpc>
                <a:spcPts val="2380"/>
              </a:lnSpc>
              <a:spcBef>
                <a:spcPts val="300"/>
              </a:spcBef>
              <a:spcAft>
                <a:spcPts val="300"/>
              </a:spcAft>
            </a:pPr>
            <a:r>
              <a:rPr sz="1400" b="0" i="0">
                <a:solidFill>
                  <a:srgbClr val="2D2D30"/>
                </a:solidFill>
                <a:latin typeface="Meiryo UI"/>
              </a:rPr>
              <a:t>イオン液体そのものをセンサー材料とする手法も報告[0]されているが、液体であるため取り扱いや形状保持に課題がある。一方、イオン液体をゲル化することで、固体として扱うことが可能となり、柔軟性と安定性の両立が期待される。</a:t>
            </a:r>
          </a:p>
          <a:p>
            <a:pPr>
              <a:lnSpc>
                <a:spcPts val="2400"/>
              </a:lnSpc>
              <a:spcBef>
                <a:spcPts val="1400"/>
              </a:spcBef>
              <a:spcAft>
                <a:spcPts val="600"/>
              </a:spcAft>
            </a:pPr>
            <a:r>
              <a:rPr sz="1600" b="1" i="0">
                <a:solidFill>
                  <a:srgbClr val="19376D"/>
                </a:solidFill>
                <a:latin typeface="Meiryo UI"/>
              </a:rPr>
              <a:t>2. 目的</a:t>
            </a:r>
          </a:p>
          <a:p>
            <a:pPr>
              <a:lnSpc>
                <a:spcPts val="2380"/>
              </a:lnSpc>
              <a:spcBef>
                <a:spcPts val="300"/>
              </a:spcBef>
              <a:spcAft>
                <a:spcPts val="300"/>
              </a:spcAft>
            </a:pPr>
            <a:r>
              <a:rPr sz="1400" b="0" i="0">
                <a:solidFill>
                  <a:srgbClr val="2D2D30"/>
                </a:solidFill>
                <a:latin typeface="Meiryo UI"/>
              </a:rPr>
              <a:t>ソフトマターセンサー材料には、使用時の変形に耐える十分な機械的強度、変形を検出可能な電気的応答性が求められる。本研究では、イオン液体を含有させたN,N-ジメチルアクリルアミド（DMAAm）ゲルについて、機械特性（引張特性）、電気特性（インピーダンス特性）を評価し、ソフトマターセンサー材料としての適性を検討することを目的と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25A8C"/>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実験の経緯</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3 / 20</a:t>
            </a:r>
          </a:p>
        </p:txBody>
      </p:sp>
      <p:sp>
        <p:nvSpPr>
          <p:cNvPr id="5" name="TextBox 4"/>
          <p:cNvSpPr txBox="1"/>
          <p:nvPr/>
        </p:nvSpPr>
        <p:spPr>
          <a:xfrm>
            <a:off x="548640" y="1097280"/>
            <a:ext cx="11094415" cy="539496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1. 当初の計画概要</a:t>
            </a:r>
          </a:p>
          <a:p>
            <a:pPr>
              <a:lnSpc>
                <a:spcPts val="2380"/>
              </a:lnSpc>
              <a:spcBef>
                <a:spcPts val="300"/>
              </a:spcBef>
              <a:spcAft>
                <a:spcPts val="300"/>
              </a:spcAft>
            </a:pPr>
            <a:r>
              <a:rPr sz="1400" b="0" i="0">
                <a:solidFill>
                  <a:srgbClr val="2D2D30"/>
                </a:solidFill>
                <a:latin typeface="Meiryo UI"/>
              </a:rPr>
              <a:t>今回扱う材料の候補として、DNゲル（ダブルネットワークゲル）、ひも状ミセルなどが他にあった。作業人数やテーマに関する観点から、DNゲルとN,N-ジメチルアクリルアミド（DMAAm）ゲルを選択した。二つのグループに分かれて作業し、本グループはN,N-ジメチルアクリルアミド（DMAAm）ゲルを担当した。</a:t>
            </a:r>
          </a:p>
          <a:p>
            <a:pPr>
              <a:lnSpc>
                <a:spcPts val="2400"/>
              </a:lnSpc>
              <a:spcBef>
                <a:spcPts val="1400"/>
              </a:spcBef>
              <a:spcAft>
                <a:spcPts val="600"/>
              </a:spcAft>
            </a:pPr>
            <a:r>
              <a:rPr sz="1600" b="1" i="0">
                <a:solidFill>
                  <a:srgbClr val="19376D"/>
                </a:solidFill>
                <a:latin typeface="Meiryo UI"/>
              </a:rPr>
              <a:t>2. 当初の実験計画</a:t>
            </a:r>
          </a:p>
          <a:p>
            <a:pPr>
              <a:lnSpc>
                <a:spcPts val="2380"/>
              </a:lnSpc>
              <a:spcBef>
                <a:spcPts val="300"/>
              </a:spcBef>
              <a:spcAft>
                <a:spcPts val="300"/>
              </a:spcAft>
            </a:pPr>
            <a:r>
              <a:rPr sz="1400" b="0" i="0">
                <a:solidFill>
                  <a:srgbClr val="2D2D30"/>
                </a:solidFill>
                <a:latin typeface="Meiryo UI"/>
              </a:rPr>
              <a:t>以下の２点を想定していた。</a:t>
            </a:r>
          </a:p>
          <a:p>
            <a:pPr>
              <a:lnSpc>
                <a:spcPts val="2380"/>
              </a:lnSpc>
              <a:spcBef>
                <a:spcPts val="400"/>
              </a:spcBef>
              <a:spcAft>
                <a:spcPts val="400"/>
              </a:spcAft>
            </a:pPr>
            <a:r>
              <a:rPr sz="1400" b="0" i="0">
                <a:solidFill>
                  <a:srgbClr val="2D2D30"/>
                </a:solidFill>
                <a:latin typeface="Meiryo UI"/>
              </a:rPr>
              <a:t>  •  (i) フォーステスターを使用した引張試験</a:t>
            </a:r>
          </a:p>
          <a:p>
            <a:pPr>
              <a:lnSpc>
                <a:spcPts val="2380"/>
              </a:lnSpc>
              <a:spcBef>
                <a:spcPts val="400"/>
              </a:spcBef>
              <a:spcAft>
                <a:spcPts val="400"/>
              </a:spcAft>
            </a:pPr>
            <a:r>
              <a:rPr sz="1400" b="0" i="0">
                <a:solidFill>
                  <a:srgbClr val="2D2D30"/>
                </a:solidFill>
                <a:latin typeface="Meiryo UI"/>
              </a:rPr>
              <a:t>  •  (ii) チューブ状に整形したゲルのインピーダンス測定</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25A8C"/>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実験の経緯</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4 / 20</a:t>
            </a:r>
          </a:p>
        </p:txBody>
      </p:sp>
      <p:sp>
        <p:nvSpPr>
          <p:cNvPr id="5" name="TextBox 4"/>
          <p:cNvSpPr txBox="1"/>
          <p:nvPr/>
        </p:nvSpPr>
        <p:spPr>
          <a:xfrm>
            <a:off x="548640" y="1097280"/>
            <a:ext cx="11094415" cy="539496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3. 実験中に生じた課題</a:t>
            </a:r>
          </a:p>
          <a:p>
            <a:pPr>
              <a:lnSpc>
                <a:spcPts val="2380"/>
              </a:lnSpc>
              <a:spcBef>
                <a:spcPts val="300"/>
              </a:spcBef>
              <a:spcAft>
                <a:spcPts val="300"/>
              </a:spcAft>
            </a:pPr>
            <a:r>
              <a:rPr sz="1400" b="0" i="0">
                <a:solidFill>
                  <a:srgbClr val="2D2D30"/>
                </a:solidFill>
                <a:latin typeface="Meiryo UI"/>
              </a:rPr>
              <a:t>(ii)について、チューブ状に液体を詰めた状態で紫外線を当てゲルを固めることには成功したが、有意な電気的応答性が得られなかった。チューブ内の気泡が原因だと思われる。</a:t>
            </a:r>
          </a:p>
          <a:p>
            <a:pPr>
              <a:lnSpc>
                <a:spcPts val="2400"/>
              </a:lnSpc>
              <a:spcBef>
                <a:spcPts val="1400"/>
              </a:spcBef>
              <a:spcAft>
                <a:spcPts val="600"/>
              </a:spcAft>
            </a:pPr>
            <a:r>
              <a:rPr sz="1600" b="1" i="0">
                <a:solidFill>
                  <a:srgbClr val="19376D"/>
                </a:solidFill>
                <a:latin typeface="Meiryo UI"/>
              </a:rPr>
              <a:t>4. 変更・改善した点</a:t>
            </a:r>
          </a:p>
          <a:p>
            <a:pPr>
              <a:lnSpc>
                <a:spcPts val="2380"/>
              </a:lnSpc>
              <a:spcBef>
                <a:spcPts val="300"/>
              </a:spcBef>
              <a:spcAft>
                <a:spcPts val="300"/>
              </a:spcAft>
            </a:pPr>
            <a:r>
              <a:rPr sz="1400" b="0" i="0">
                <a:solidFill>
                  <a:srgbClr val="2D2D30"/>
                </a:solidFill>
                <a:latin typeface="Meiryo UI"/>
              </a:rPr>
              <a:t>(ii)について、チューブの口径をより大きいものに変更する案もあったが、実験の手法自体を変更することにした。チューブではなく、シャーレの上でゲルを固めることにした。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実験方法</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5 / 20</a:t>
            </a:r>
          </a:p>
        </p:txBody>
      </p:sp>
      <p:sp>
        <p:nvSpPr>
          <p:cNvPr id="5" name="TextBox 4"/>
          <p:cNvSpPr txBox="1"/>
          <p:nvPr/>
        </p:nvSpPr>
        <p:spPr>
          <a:xfrm>
            <a:off x="548640" y="1097280"/>
            <a:ext cx="6858000" cy="5394960"/>
          </a:xfrm>
          <a:prstGeom prst="rect">
            <a:avLst/>
          </a:prstGeom>
          <a:noFill/>
        </p:spPr>
        <p:txBody>
          <a:bodyPr wrap="square">
            <a:spAutoFit/>
          </a:bodyPr>
          <a:lstStyle/>
          <a:p>
            <a:pPr>
              <a:lnSpc>
                <a:spcPts val="2400"/>
              </a:lnSpc>
              <a:spcBef>
                <a:spcPts val="0"/>
              </a:spcBef>
              <a:spcAft>
                <a:spcPts val="600"/>
              </a:spcAft>
            </a:pPr>
            <a:r>
              <a:rPr sz="1600" b="1" i="0">
                <a:solidFill>
                  <a:srgbClr val="19376D"/>
                </a:solidFill>
                <a:latin typeface="Meiryo UI"/>
              </a:rPr>
              <a:t>1. DMAAmゲルの作成</a:t>
            </a:r>
          </a:p>
          <a:p>
            <a:pPr>
              <a:lnSpc>
                <a:spcPts val="2210"/>
              </a:lnSpc>
              <a:spcBef>
                <a:spcPts val="300"/>
              </a:spcBef>
              <a:spcAft>
                <a:spcPts val="300"/>
              </a:spcAft>
            </a:pPr>
            <a:r>
              <a:rPr sz="1300" b="0" i="0">
                <a:solidFill>
                  <a:srgbClr val="2D2D30"/>
                </a:solidFill>
                <a:latin typeface="Meiryo UI"/>
              </a:rPr>
              <a:t>イオン液体[L]に対してDMAAm(モノマー)2[mol/L], α-keto(開始剤)0.001[mol/L], MBAA(架橋剤)0.02[mol/L]を混ぜたものを作成する。DMAAmを0.03[mol/L], 0.04[mol/L]にしたものも作成する。これらを8×8×2[mm]のスペーサーに流し込み紫外線で固めゲルにする。また、同様にシャーレに流し込み固める。</a:t>
            </a:r>
          </a:p>
          <a:p>
            <a:pPr>
              <a:lnSpc>
                <a:spcPts val="2400"/>
              </a:lnSpc>
              <a:spcBef>
                <a:spcPts val="1400"/>
              </a:spcBef>
              <a:spcAft>
                <a:spcPts val="600"/>
              </a:spcAft>
            </a:pPr>
            <a:r>
              <a:rPr sz="1600" b="1" i="0">
                <a:solidFill>
                  <a:srgbClr val="19376D"/>
                </a:solidFill>
                <a:latin typeface="Meiryo UI"/>
              </a:rPr>
              <a:t>2. DMAAmゲルの引張試験</a:t>
            </a:r>
          </a:p>
          <a:p>
            <a:pPr>
              <a:lnSpc>
                <a:spcPts val="2210"/>
              </a:lnSpc>
              <a:spcBef>
                <a:spcPts val="300"/>
              </a:spcBef>
              <a:spcAft>
                <a:spcPts val="300"/>
              </a:spcAft>
            </a:pPr>
            <a:r>
              <a:rPr sz="1300" b="0" i="0">
                <a:solidFill>
                  <a:srgbClr val="2D2D30"/>
                </a:solidFill>
                <a:latin typeface="Meiryo UI"/>
              </a:rPr>
              <a:t>作成したDMAAmゲルをダンベル状7号型(図1)で型を取り、フォーステスターを使用して引張試験を行う。</a:t>
            </a:r>
          </a:p>
          <a:p>
            <a:pPr>
              <a:lnSpc>
                <a:spcPts val="2400"/>
              </a:lnSpc>
              <a:spcBef>
                <a:spcPts val="1400"/>
              </a:spcBef>
              <a:spcAft>
                <a:spcPts val="600"/>
              </a:spcAft>
            </a:pPr>
            <a:r>
              <a:rPr sz="1600" b="1" i="0">
                <a:solidFill>
                  <a:srgbClr val="19376D"/>
                </a:solidFill>
                <a:latin typeface="Meiryo UI"/>
              </a:rPr>
              <a:t>3. DMAAmゲルのインピーダンスの測定</a:t>
            </a:r>
          </a:p>
          <a:p>
            <a:pPr>
              <a:lnSpc>
                <a:spcPts val="2210"/>
              </a:lnSpc>
              <a:spcBef>
                <a:spcPts val="300"/>
              </a:spcBef>
              <a:spcAft>
                <a:spcPts val="300"/>
              </a:spcAft>
            </a:pPr>
            <a:r>
              <a:rPr sz="1300" b="0" i="0">
                <a:solidFill>
                  <a:srgbClr val="2D2D30"/>
                </a:solidFill>
                <a:latin typeface="Meiryo UI"/>
              </a:rPr>
              <a:t>ANALOG DISCOVERY 3を使用してDMAAmゲルのインピーダンスを測定する。作成したDMAAmゲルをダンベル状7号型(図1)で型を取ったものとシャーレに作成したDMAAmゲルにアルミホイル(電極)を付けたもの(図2)のインピーダンスを測定する。</a:t>
            </a:r>
          </a:p>
        </p:txBody>
      </p:sp>
      <p:pic>
        <p:nvPicPr>
          <p:cNvPr id="6" name="Picture 5" descr="image.png"/>
          <p:cNvPicPr>
            <a:picLocks noChangeAspect="1"/>
          </p:cNvPicPr>
          <p:nvPr/>
        </p:nvPicPr>
        <p:blipFill>
          <a:blip r:embed="rId2"/>
          <a:stretch>
            <a:fillRect/>
          </a:stretch>
        </p:blipFill>
        <p:spPr>
          <a:xfrm>
            <a:off x="7680960" y="1463040"/>
            <a:ext cx="3962095" cy="1645920"/>
          </a:xfrm>
          <a:prstGeom prst="rect">
            <a:avLst/>
          </a:prstGeom>
        </p:spPr>
      </p:pic>
      <p:sp>
        <p:nvSpPr>
          <p:cNvPr id="7" name="TextBox 6"/>
          <p:cNvSpPr txBox="1"/>
          <p:nvPr/>
        </p:nvSpPr>
        <p:spPr>
          <a:xfrm>
            <a:off x="7680960" y="3200400"/>
            <a:ext cx="3962095" cy="274320"/>
          </a:xfrm>
          <a:prstGeom prst="rect">
            <a:avLst/>
          </a:prstGeom>
          <a:noFill/>
        </p:spPr>
        <p:txBody>
          <a:bodyPr wrap="none">
            <a:spAutoFit/>
          </a:bodyPr>
          <a:lstStyle/>
          <a:p>
            <a:pPr algn="ctr"/>
            <a:r>
              <a:rPr sz="1000" b="0" i="0">
                <a:solidFill>
                  <a:srgbClr val="646469"/>
                </a:solidFill>
                <a:latin typeface="Meiryo UI"/>
              </a:rPr>
              <a:t>図1. ダンベル状7号</a:t>
            </a:r>
          </a:p>
        </p:txBody>
      </p:sp>
      <p:pic>
        <p:nvPicPr>
          <p:cNvPr id="8" name="Picture 7" descr="image.jpg"/>
          <p:cNvPicPr>
            <a:picLocks noChangeAspect="1"/>
          </p:cNvPicPr>
          <p:nvPr/>
        </p:nvPicPr>
        <p:blipFill>
          <a:blip r:embed="rId3"/>
          <a:stretch>
            <a:fillRect/>
          </a:stretch>
        </p:blipFill>
        <p:spPr>
          <a:xfrm>
            <a:off x="7680960" y="3749040"/>
            <a:ext cx="3962095" cy="1645920"/>
          </a:xfrm>
          <a:prstGeom prst="rect">
            <a:avLst/>
          </a:prstGeom>
        </p:spPr>
      </p:pic>
      <p:sp>
        <p:nvSpPr>
          <p:cNvPr id="9" name="TextBox 8"/>
          <p:cNvSpPr txBox="1"/>
          <p:nvPr/>
        </p:nvSpPr>
        <p:spPr>
          <a:xfrm>
            <a:off x="7680960" y="5486400"/>
            <a:ext cx="3962095" cy="274320"/>
          </a:xfrm>
          <a:prstGeom prst="rect">
            <a:avLst/>
          </a:prstGeom>
          <a:noFill/>
        </p:spPr>
        <p:txBody>
          <a:bodyPr wrap="none">
            <a:spAutoFit/>
          </a:bodyPr>
          <a:lstStyle/>
          <a:p>
            <a:pPr algn="ctr"/>
            <a:r>
              <a:rPr sz="1000" b="0" i="0">
                <a:solidFill>
                  <a:srgbClr val="646469"/>
                </a:solidFill>
                <a:latin typeface="Meiryo UI"/>
              </a:rPr>
              <a:t>図2. シャーレに作成したDMAAmゲル</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使用器具</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6 / 20</a:t>
            </a:r>
          </a:p>
        </p:txBody>
      </p:sp>
      <p:sp>
        <p:nvSpPr>
          <p:cNvPr id="5" name="TextBox 4"/>
          <p:cNvSpPr txBox="1"/>
          <p:nvPr/>
        </p:nvSpPr>
        <p:spPr>
          <a:xfrm>
            <a:off x="548640" y="1280160"/>
            <a:ext cx="11094415" cy="5394960"/>
          </a:xfrm>
          <a:prstGeom prst="rect">
            <a:avLst/>
          </a:prstGeom>
          <a:noFill/>
        </p:spPr>
        <p:txBody>
          <a:bodyPr wrap="square">
            <a:spAutoFit/>
          </a:bodyPr>
          <a:lstStyle/>
          <a:p>
            <a:pPr>
              <a:lnSpc>
                <a:spcPts val="2720"/>
              </a:lnSpc>
              <a:spcBef>
                <a:spcPts val="400"/>
              </a:spcBef>
              <a:spcAft>
                <a:spcPts val="400"/>
              </a:spcAft>
            </a:pPr>
            <a:r>
              <a:rPr sz="1600" b="0" i="0">
                <a:solidFill>
                  <a:srgbClr val="2D2D30"/>
                </a:solidFill>
                <a:latin typeface="Meiryo UI"/>
              </a:rPr>
              <a:t>  •  ANALOG DISCOVERY 3</a:t>
            </a:r>
          </a:p>
          <a:p>
            <a:pPr>
              <a:lnSpc>
                <a:spcPts val="2720"/>
              </a:lnSpc>
              <a:spcBef>
                <a:spcPts val="400"/>
              </a:spcBef>
              <a:spcAft>
                <a:spcPts val="400"/>
              </a:spcAft>
            </a:pPr>
            <a:r>
              <a:rPr sz="1600" b="0" i="0">
                <a:solidFill>
                  <a:srgbClr val="2D2D30"/>
                </a:solidFill>
                <a:latin typeface="Meiryo UI"/>
              </a:rPr>
              <a:t>  •  シャーレ（直径69 mm）</a:t>
            </a:r>
          </a:p>
          <a:p>
            <a:pPr>
              <a:lnSpc>
                <a:spcPts val="2720"/>
              </a:lnSpc>
              <a:spcBef>
                <a:spcPts val="400"/>
              </a:spcBef>
              <a:spcAft>
                <a:spcPts val="400"/>
              </a:spcAft>
            </a:pPr>
            <a:r>
              <a:rPr sz="1600" b="0" i="0">
                <a:solidFill>
                  <a:srgbClr val="2D2D30"/>
                </a:solidFill>
                <a:latin typeface="Meiryo UI"/>
              </a:rPr>
              <a:t>  •  アルミホイル（電極）</a:t>
            </a:r>
          </a:p>
          <a:p>
            <a:pPr>
              <a:lnSpc>
                <a:spcPts val="2720"/>
              </a:lnSpc>
              <a:spcBef>
                <a:spcPts val="400"/>
              </a:spcBef>
              <a:spcAft>
                <a:spcPts val="400"/>
              </a:spcAft>
            </a:pPr>
            <a:r>
              <a:rPr sz="1600" b="0" i="0">
                <a:solidFill>
                  <a:srgbClr val="2D2D30"/>
                </a:solidFill>
                <a:latin typeface="Meiryo UI"/>
              </a:rPr>
              <a:t>  •  フォーステスター（MCT-1150/2150/2150W）</a:t>
            </a:r>
          </a:p>
          <a:p>
            <a:pPr>
              <a:lnSpc>
                <a:spcPts val="2720"/>
              </a:lnSpc>
              <a:spcBef>
                <a:spcPts val="400"/>
              </a:spcBef>
              <a:spcAft>
                <a:spcPts val="400"/>
              </a:spcAft>
            </a:pPr>
            <a:r>
              <a:rPr sz="1600" b="0" i="0">
                <a:solidFill>
                  <a:srgbClr val="2D2D30"/>
                </a:solidFill>
                <a:latin typeface="Meiryo UI"/>
              </a:rPr>
              <a:t>  •  電極クリップ</a:t>
            </a:r>
          </a:p>
          <a:p>
            <a:pPr>
              <a:lnSpc>
                <a:spcPts val="2720"/>
              </a:lnSpc>
              <a:spcBef>
                <a:spcPts val="400"/>
              </a:spcBef>
              <a:spcAft>
                <a:spcPts val="400"/>
              </a:spcAft>
            </a:pPr>
            <a:r>
              <a:rPr sz="1600" b="0" i="0">
                <a:solidFill>
                  <a:srgbClr val="2D2D30"/>
                </a:solidFill>
                <a:latin typeface="Meiryo UI"/>
              </a:rPr>
              <a:t>  •  SD型レバー式試料裁断機（型式SDL-100）</a:t>
            </a:r>
          </a:p>
          <a:p>
            <a:pPr>
              <a:lnSpc>
                <a:spcPts val="2720"/>
              </a:lnSpc>
              <a:spcBef>
                <a:spcPts val="400"/>
              </a:spcBef>
              <a:spcAft>
                <a:spcPts val="400"/>
              </a:spcAft>
            </a:pPr>
            <a:r>
              <a:rPr sz="1600" b="0" i="0">
                <a:solidFill>
                  <a:srgbClr val="2D2D30"/>
                </a:solidFill>
                <a:latin typeface="Meiryo UI"/>
              </a:rPr>
              <a:t>  •  スーパーダンベルカッター（型式SDMP-1000-D, 規格JIS K6251-7号）</a:t>
            </a:r>
          </a:p>
          <a:p>
            <a:pPr>
              <a:lnSpc>
                <a:spcPts val="2720"/>
              </a:lnSpc>
              <a:spcBef>
                <a:spcPts val="400"/>
              </a:spcBef>
              <a:spcAft>
                <a:spcPts val="400"/>
              </a:spcAft>
            </a:pPr>
            <a:r>
              <a:rPr sz="1600" b="0" i="0">
                <a:solidFill>
                  <a:srgbClr val="2D2D30"/>
                </a:solidFill>
                <a:latin typeface="Meiryo UI"/>
              </a:rPr>
              <a:t>  •  紫外線照射装置（※手作りのため製品情報なし）</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実験材料</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7 / 20</a:t>
            </a:r>
          </a:p>
        </p:txBody>
      </p:sp>
      <p:graphicFrame>
        <p:nvGraphicFramePr>
          <p:cNvPr id="5" name="Table 4"/>
          <p:cNvGraphicFramePr>
            <a:graphicFrameLocks noGrp="1"/>
          </p:cNvGraphicFramePr>
          <p:nvPr/>
        </p:nvGraphicFramePr>
        <p:xfrm>
          <a:off x="731520" y="1371600"/>
          <a:ext cx="10698480" cy="2514600"/>
        </p:xfrm>
        <a:graphic>
          <a:graphicData uri="http://schemas.openxmlformats.org/drawingml/2006/table">
            <a:tbl>
              <a:tblPr firstRow="1" bandRow="1">
                <a:tableStyleId>{5C22544A-7EE6-4342-B048-85BDC9FD1C3A}</a:tableStyleId>
              </a:tblPr>
              <a:tblGrid>
                <a:gridCol w="2674620"/>
                <a:gridCol w="2674620"/>
                <a:gridCol w="2674620"/>
                <a:gridCol w="2674620"/>
              </a:tblGrid>
              <a:tr h="502920">
                <a:tc>
                  <a:txBody>
                    <a:bodyPr wrap="square" lIns="73152" rIns="73152" tIns="36576" bIns="36576"/>
                    <a:lstStyle/>
                    <a:p>
                      <a:pPr algn="ctr"/>
                      <a:r>
                        <a:rPr sz="1100" b="1" i="0">
                          <a:solidFill>
                            <a:srgbClr val="FFFFFF"/>
                          </a:solidFill>
                          <a:latin typeface="Meiryo UI"/>
                        </a:rPr>
                        <a:t>No.</a:t>
                      </a:r>
                    </a:p>
                  </a:txBody>
                  <a:tcPr>
                    <a:solidFill>
                      <a:srgbClr val="19376D"/>
                    </a:solidFill>
                  </a:tcPr>
                </a:tc>
                <a:tc>
                  <a:txBody>
                    <a:bodyPr wrap="square" lIns="73152" rIns="73152" tIns="36576" bIns="36576"/>
                    <a:lstStyle/>
                    <a:p>
                      <a:pPr algn="ctr"/>
                      <a:r>
                        <a:rPr sz="1100" b="1" i="0">
                          <a:solidFill>
                            <a:srgbClr val="FFFFFF"/>
                          </a:solidFill>
                          <a:latin typeface="Meiryo UI"/>
                        </a:rPr>
                        <a:t>材料名</a:t>
                      </a:r>
                    </a:p>
                  </a:txBody>
                  <a:tcPr>
                    <a:solidFill>
                      <a:srgbClr val="19376D"/>
                    </a:solidFill>
                  </a:tcPr>
                </a:tc>
                <a:tc>
                  <a:txBody>
                    <a:bodyPr wrap="square" lIns="73152" rIns="73152" tIns="36576" bIns="36576"/>
                    <a:lstStyle/>
                    <a:p>
                      <a:pPr algn="ctr"/>
                      <a:r>
                        <a:rPr sz="1100" b="1" i="0">
                          <a:solidFill>
                            <a:srgbClr val="FFFFFF"/>
                          </a:solidFill>
                          <a:latin typeface="Meiryo UI"/>
                        </a:rPr>
                        <a:t>化学式</a:t>
                      </a:r>
                    </a:p>
                  </a:txBody>
                  <a:tcPr>
                    <a:solidFill>
                      <a:srgbClr val="19376D"/>
                    </a:solidFill>
                  </a:tcPr>
                </a:tc>
                <a:tc>
                  <a:txBody>
                    <a:bodyPr wrap="square" lIns="73152" rIns="73152" tIns="36576" bIns="36576"/>
                    <a:lstStyle/>
                    <a:p>
                      <a:pPr algn="ctr"/>
                      <a:r>
                        <a:rPr sz="1100" b="1" i="0">
                          <a:solidFill>
                            <a:srgbClr val="FFFFFF"/>
                          </a:solidFill>
                          <a:latin typeface="Meiryo UI"/>
                        </a:rPr>
                        <a:t>役割</a:t>
                      </a:r>
                    </a:p>
                  </a:txBody>
                  <a:tcPr>
                    <a:solidFill>
                      <a:srgbClr val="19376D"/>
                    </a:solidFill>
                  </a:tcPr>
                </a:tc>
              </a:tr>
              <a:tr h="502920">
                <a:tc>
                  <a:txBody>
                    <a:bodyPr wrap="square" lIns="73152" rIns="73152" tIns="36576" bIns="36576"/>
                    <a:lstStyle/>
                    <a:p>
                      <a:pPr algn="l"/>
                      <a:r>
                        <a:rPr sz="1100" b="0" i="0">
                          <a:solidFill>
                            <a:srgbClr val="2D2D30"/>
                          </a:solidFill>
                          <a:latin typeface="Meiryo UI"/>
                        </a:rPr>
                        <a:t>1</a:t>
                      </a:r>
                    </a:p>
                  </a:txBody>
                  <a:tcPr>
                    <a:solidFill>
                      <a:srgbClr val="FFFFFF"/>
                    </a:solidFill>
                  </a:tcPr>
                </a:tc>
                <a:tc>
                  <a:txBody>
                    <a:bodyPr wrap="square" lIns="73152" rIns="73152" tIns="36576" bIns="36576"/>
                    <a:lstStyle/>
                    <a:p>
                      <a:pPr algn="ctr"/>
                      <a:r>
                        <a:rPr sz="1100" b="0" i="0">
                          <a:solidFill>
                            <a:srgbClr val="2D2D30"/>
                          </a:solidFill>
                          <a:latin typeface="Meiryo UI"/>
                        </a:rPr>
                        <a:t>1-ブチル-3-メチルイミダゾリウム
ビス(フルオロスルホニル)イミド</a:t>
                      </a:r>
                    </a:p>
                  </a:txBody>
                  <a:tcPr>
                    <a:solidFill>
                      <a:srgbClr val="FFFFFF"/>
                    </a:solidFill>
                  </a:tcPr>
                </a:tc>
                <a:tc>
                  <a:txBody>
                    <a:bodyPr wrap="square" lIns="73152" rIns="73152" tIns="36576" bIns="36576"/>
                    <a:lstStyle/>
                    <a:p>
                      <a:pPr algn="ctr"/>
                      <a:r>
                        <a:rPr sz="1100" b="0" i="0">
                          <a:solidFill>
                            <a:srgbClr val="2D2D30"/>
                          </a:solidFill>
                          <a:latin typeface="Meiryo UI"/>
                        </a:rPr>
                        <a:t>C₈H₁₅F₂N₃O₄S₂</a:t>
                      </a:r>
                    </a:p>
                  </a:txBody>
                  <a:tcPr>
                    <a:solidFill>
                      <a:srgbClr val="FFFFFF"/>
                    </a:solidFill>
                  </a:tcPr>
                </a:tc>
                <a:tc>
                  <a:txBody>
                    <a:bodyPr wrap="square" lIns="73152" rIns="73152" tIns="36576" bIns="36576"/>
                    <a:lstStyle/>
                    <a:p>
                      <a:pPr algn="ctr"/>
                      <a:r>
                        <a:rPr sz="1100" b="0" i="0">
                          <a:solidFill>
                            <a:srgbClr val="2D2D30"/>
                          </a:solidFill>
                          <a:latin typeface="Meiryo UI"/>
                        </a:rPr>
                        <a:t>イオン液体</a:t>
                      </a:r>
                    </a:p>
                  </a:txBody>
                  <a:tcPr>
                    <a:solidFill>
                      <a:srgbClr val="FFFFFF"/>
                    </a:solidFill>
                  </a:tcPr>
                </a:tc>
              </a:tr>
              <a:tr h="502920">
                <a:tc>
                  <a:txBody>
                    <a:bodyPr wrap="square" lIns="73152" rIns="73152" tIns="36576" bIns="36576"/>
                    <a:lstStyle/>
                    <a:p>
                      <a:pPr algn="l"/>
                      <a:r>
                        <a:rPr sz="1100" b="0" i="0">
                          <a:solidFill>
                            <a:srgbClr val="2D2D30"/>
                          </a:solidFill>
                          <a:latin typeface="Meiryo UI"/>
                        </a:rPr>
                        <a:t>2</a:t>
                      </a:r>
                    </a:p>
                  </a:txBody>
                  <a:tcPr>
                    <a:solidFill>
                      <a:srgbClr val="EBF0F8"/>
                    </a:solidFill>
                  </a:tcPr>
                </a:tc>
                <a:tc>
                  <a:txBody>
                    <a:bodyPr wrap="square" lIns="73152" rIns="73152" tIns="36576" bIns="36576"/>
                    <a:lstStyle/>
                    <a:p>
                      <a:pPr algn="ctr"/>
                      <a:r>
                        <a:rPr sz="1100" b="0" i="0">
                          <a:solidFill>
                            <a:srgbClr val="2D2D30"/>
                          </a:solidFill>
                          <a:latin typeface="Meiryo UI"/>
                        </a:rPr>
                        <a:t>N,N-ジメチルアクリルアミド</a:t>
                      </a:r>
                    </a:p>
                  </a:txBody>
                  <a:tcPr>
                    <a:solidFill>
                      <a:srgbClr val="EBF0F8"/>
                    </a:solidFill>
                  </a:tcPr>
                </a:tc>
                <a:tc>
                  <a:txBody>
                    <a:bodyPr wrap="square" lIns="73152" rIns="73152" tIns="36576" bIns="36576"/>
                    <a:lstStyle/>
                    <a:p>
                      <a:pPr algn="ctr"/>
                      <a:r>
                        <a:rPr sz="1100" b="0" i="0">
                          <a:solidFill>
                            <a:srgbClr val="2D2D30"/>
                          </a:solidFill>
                          <a:latin typeface="Meiryo UI"/>
                        </a:rPr>
                        <a:t>C₅H₉NO</a:t>
                      </a:r>
                    </a:p>
                  </a:txBody>
                  <a:tcPr>
                    <a:solidFill>
                      <a:srgbClr val="EBF0F8"/>
                    </a:solidFill>
                  </a:tcPr>
                </a:tc>
                <a:tc>
                  <a:txBody>
                    <a:bodyPr wrap="square" lIns="73152" rIns="73152" tIns="36576" bIns="36576"/>
                    <a:lstStyle/>
                    <a:p>
                      <a:pPr algn="ctr"/>
                      <a:r>
                        <a:rPr sz="1100" b="0" i="0">
                          <a:solidFill>
                            <a:srgbClr val="2D2D30"/>
                          </a:solidFill>
                          <a:latin typeface="Meiryo UI"/>
                        </a:rPr>
                        <a:t>モノマー</a:t>
                      </a:r>
                    </a:p>
                  </a:txBody>
                  <a:tcPr>
                    <a:solidFill>
                      <a:srgbClr val="EBF0F8"/>
                    </a:solidFill>
                  </a:tcPr>
                </a:tc>
              </a:tr>
              <a:tr h="502920">
                <a:tc>
                  <a:txBody>
                    <a:bodyPr wrap="square" lIns="73152" rIns="73152" tIns="36576" bIns="36576"/>
                    <a:lstStyle/>
                    <a:p>
                      <a:pPr algn="l"/>
                      <a:r>
                        <a:rPr sz="1100" b="0" i="0">
                          <a:solidFill>
                            <a:srgbClr val="2D2D30"/>
                          </a:solidFill>
                          <a:latin typeface="Meiryo UI"/>
                        </a:rPr>
                        <a:t>3</a:t>
                      </a:r>
                    </a:p>
                  </a:txBody>
                  <a:tcPr>
                    <a:solidFill>
                      <a:srgbClr val="FFFFFF"/>
                    </a:solidFill>
                  </a:tcPr>
                </a:tc>
                <a:tc>
                  <a:txBody>
                    <a:bodyPr wrap="square" lIns="73152" rIns="73152" tIns="36576" bIns="36576"/>
                    <a:lstStyle/>
                    <a:p>
                      <a:pPr algn="ctr"/>
                      <a:r>
                        <a:rPr sz="1100" b="0" i="0">
                          <a:solidFill>
                            <a:srgbClr val="2D2D30"/>
                          </a:solidFill>
                          <a:latin typeface="Meiryo UI"/>
                        </a:rPr>
                        <a:t>α-ケトグルタル酸</a:t>
                      </a:r>
                    </a:p>
                  </a:txBody>
                  <a:tcPr>
                    <a:solidFill>
                      <a:srgbClr val="FFFFFF"/>
                    </a:solidFill>
                  </a:tcPr>
                </a:tc>
                <a:tc>
                  <a:txBody>
                    <a:bodyPr wrap="square" lIns="73152" rIns="73152" tIns="36576" bIns="36576"/>
                    <a:lstStyle/>
                    <a:p>
                      <a:pPr algn="ctr"/>
                      <a:r>
                        <a:rPr sz="1100" b="0" i="0">
                          <a:solidFill>
                            <a:srgbClr val="2D2D30"/>
                          </a:solidFill>
                          <a:latin typeface="Meiryo UI"/>
                        </a:rPr>
                        <a:t>C₅H₆O₅</a:t>
                      </a:r>
                    </a:p>
                  </a:txBody>
                  <a:tcPr>
                    <a:solidFill>
                      <a:srgbClr val="FFFFFF"/>
                    </a:solidFill>
                  </a:tcPr>
                </a:tc>
                <a:tc>
                  <a:txBody>
                    <a:bodyPr wrap="square" lIns="73152" rIns="73152" tIns="36576" bIns="36576"/>
                    <a:lstStyle/>
                    <a:p>
                      <a:pPr algn="ctr"/>
                      <a:r>
                        <a:rPr sz="1100" b="0" i="0">
                          <a:solidFill>
                            <a:srgbClr val="2D2D30"/>
                          </a:solidFill>
                          <a:latin typeface="Meiryo UI"/>
                        </a:rPr>
                        <a:t>開始剤</a:t>
                      </a:r>
                    </a:p>
                  </a:txBody>
                  <a:tcPr>
                    <a:solidFill>
                      <a:srgbClr val="FFFFFF"/>
                    </a:solidFill>
                  </a:tcPr>
                </a:tc>
              </a:tr>
              <a:tr h="502920">
                <a:tc>
                  <a:txBody>
                    <a:bodyPr wrap="square" lIns="73152" rIns="73152" tIns="36576" bIns="36576"/>
                    <a:lstStyle/>
                    <a:p>
                      <a:pPr algn="l"/>
                      <a:r>
                        <a:rPr sz="1100" b="0" i="0">
                          <a:solidFill>
                            <a:srgbClr val="2D2D30"/>
                          </a:solidFill>
                          <a:latin typeface="Meiryo UI"/>
                        </a:rPr>
                        <a:t>4</a:t>
                      </a:r>
                    </a:p>
                  </a:txBody>
                  <a:tcPr>
                    <a:solidFill>
                      <a:srgbClr val="EBF0F8"/>
                    </a:solidFill>
                  </a:tcPr>
                </a:tc>
                <a:tc>
                  <a:txBody>
                    <a:bodyPr wrap="square" lIns="73152" rIns="73152" tIns="36576" bIns="36576"/>
                    <a:lstStyle/>
                    <a:p>
                      <a:pPr algn="ctr"/>
                      <a:r>
                        <a:rPr sz="1100" b="0" i="0">
                          <a:solidFill>
                            <a:srgbClr val="2D2D30"/>
                          </a:solidFill>
                          <a:latin typeface="Meiryo UI"/>
                        </a:rPr>
                        <a:t>N,N'-メチレンビスアクリルアミド</a:t>
                      </a:r>
                    </a:p>
                  </a:txBody>
                  <a:tcPr>
                    <a:solidFill>
                      <a:srgbClr val="EBF0F8"/>
                    </a:solidFill>
                  </a:tcPr>
                </a:tc>
                <a:tc>
                  <a:txBody>
                    <a:bodyPr wrap="square" lIns="73152" rIns="73152" tIns="36576" bIns="36576"/>
                    <a:lstStyle/>
                    <a:p>
                      <a:pPr algn="ctr"/>
                      <a:r>
                        <a:rPr sz="1100" b="0" i="0">
                          <a:solidFill>
                            <a:srgbClr val="2D2D30"/>
                          </a:solidFill>
                          <a:latin typeface="Meiryo UI"/>
                        </a:rPr>
                        <a:t>C₇H₁₀N₂O₂</a:t>
                      </a:r>
                    </a:p>
                  </a:txBody>
                  <a:tcPr>
                    <a:solidFill>
                      <a:srgbClr val="EBF0F8"/>
                    </a:solidFill>
                  </a:tcPr>
                </a:tc>
                <a:tc>
                  <a:txBody>
                    <a:bodyPr wrap="square" lIns="73152" rIns="73152" tIns="36576" bIns="36576"/>
                    <a:lstStyle/>
                    <a:p>
                      <a:pPr algn="ctr"/>
                      <a:r>
                        <a:rPr sz="1100" b="0" i="0">
                          <a:solidFill>
                            <a:srgbClr val="2D2D30"/>
                          </a:solidFill>
                          <a:latin typeface="Meiryo UI"/>
                        </a:rPr>
                        <a:t>架橋剤</a:t>
                      </a:r>
                    </a:p>
                  </a:txBody>
                  <a:tcPr>
                    <a:solidFill>
                      <a:srgbClr val="EBF0F8"/>
                    </a:solidFill>
                  </a:tcPr>
                </a:tc>
              </a:tr>
            </a:tbl>
          </a:graphicData>
        </a:graphic>
      </p:graphicFrame>
      <p:pic>
        <p:nvPicPr>
          <p:cNvPr id="6" name="Picture 5" descr="image.png"/>
          <p:cNvPicPr>
            <a:picLocks noChangeAspect="1"/>
          </p:cNvPicPr>
          <p:nvPr/>
        </p:nvPicPr>
        <p:blipFill>
          <a:blip r:embed="rId2"/>
          <a:stretch>
            <a:fillRect/>
          </a:stretch>
        </p:blipFill>
        <p:spPr>
          <a:xfrm>
            <a:off x="548640" y="4297680"/>
            <a:ext cx="2377440" cy="1097280"/>
          </a:xfrm>
          <a:prstGeom prst="rect">
            <a:avLst/>
          </a:prstGeom>
        </p:spPr>
      </p:pic>
      <p:sp>
        <p:nvSpPr>
          <p:cNvPr id="7" name="TextBox 6"/>
          <p:cNvSpPr txBox="1"/>
          <p:nvPr/>
        </p:nvSpPr>
        <p:spPr>
          <a:xfrm>
            <a:off x="2377440" y="5212080"/>
            <a:ext cx="457200" cy="274320"/>
          </a:xfrm>
          <a:prstGeom prst="rect">
            <a:avLst/>
          </a:prstGeom>
          <a:noFill/>
        </p:spPr>
        <p:txBody>
          <a:bodyPr wrap="none">
            <a:spAutoFit/>
          </a:bodyPr>
          <a:lstStyle/>
          <a:p>
            <a:pPr algn="r"/>
            <a:r>
              <a:rPr sz="900" b="0" i="0">
                <a:solidFill>
                  <a:srgbClr val="646469"/>
                </a:solidFill>
                <a:latin typeface="Segoe UI"/>
              </a:rPr>
              <a:t>[1]</a:t>
            </a:r>
          </a:p>
        </p:txBody>
      </p:sp>
      <p:pic>
        <p:nvPicPr>
          <p:cNvPr id="8" name="Picture 7" descr="image.png"/>
          <p:cNvPicPr>
            <a:picLocks noChangeAspect="1"/>
          </p:cNvPicPr>
          <p:nvPr/>
        </p:nvPicPr>
        <p:blipFill>
          <a:blip r:embed="rId3"/>
          <a:stretch>
            <a:fillRect/>
          </a:stretch>
        </p:blipFill>
        <p:spPr>
          <a:xfrm>
            <a:off x="3291840" y="4297680"/>
            <a:ext cx="2377440" cy="1097280"/>
          </a:xfrm>
          <a:prstGeom prst="rect">
            <a:avLst/>
          </a:prstGeom>
        </p:spPr>
      </p:pic>
      <p:sp>
        <p:nvSpPr>
          <p:cNvPr id="9" name="TextBox 8"/>
          <p:cNvSpPr txBox="1"/>
          <p:nvPr/>
        </p:nvSpPr>
        <p:spPr>
          <a:xfrm>
            <a:off x="5120640" y="5212080"/>
            <a:ext cx="457200" cy="274320"/>
          </a:xfrm>
          <a:prstGeom prst="rect">
            <a:avLst/>
          </a:prstGeom>
          <a:noFill/>
        </p:spPr>
        <p:txBody>
          <a:bodyPr wrap="none">
            <a:spAutoFit/>
          </a:bodyPr>
          <a:lstStyle/>
          <a:p>
            <a:pPr algn="r"/>
            <a:r>
              <a:rPr sz="900" b="0" i="0">
                <a:solidFill>
                  <a:srgbClr val="646469"/>
                </a:solidFill>
                <a:latin typeface="Segoe UI"/>
              </a:rPr>
              <a:t>[2]</a:t>
            </a:r>
          </a:p>
        </p:txBody>
      </p:sp>
      <p:pic>
        <p:nvPicPr>
          <p:cNvPr id="10" name="Picture 9" descr="image.png"/>
          <p:cNvPicPr>
            <a:picLocks noChangeAspect="1"/>
          </p:cNvPicPr>
          <p:nvPr/>
        </p:nvPicPr>
        <p:blipFill>
          <a:blip r:embed="rId4"/>
          <a:stretch>
            <a:fillRect/>
          </a:stretch>
        </p:blipFill>
        <p:spPr>
          <a:xfrm>
            <a:off x="6035040" y="4297680"/>
            <a:ext cx="2377440" cy="1097280"/>
          </a:xfrm>
          <a:prstGeom prst="rect">
            <a:avLst/>
          </a:prstGeom>
        </p:spPr>
      </p:pic>
      <p:sp>
        <p:nvSpPr>
          <p:cNvPr id="11" name="TextBox 10"/>
          <p:cNvSpPr txBox="1"/>
          <p:nvPr/>
        </p:nvSpPr>
        <p:spPr>
          <a:xfrm>
            <a:off x="7863840" y="5212080"/>
            <a:ext cx="457200" cy="274320"/>
          </a:xfrm>
          <a:prstGeom prst="rect">
            <a:avLst/>
          </a:prstGeom>
          <a:noFill/>
        </p:spPr>
        <p:txBody>
          <a:bodyPr wrap="none">
            <a:spAutoFit/>
          </a:bodyPr>
          <a:lstStyle/>
          <a:p>
            <a:pPr algn="r"/>
            <a:r>
              <a:rPr sz="900" b="0" i="0">
                <a:solidFill>
                  <a:srgbClr val="646469"/>
                </a:solidFill>
                <a:latin typeface="Segoe UI"/>
              </a:rPr>
              <a:t>[3]</a:t>
            </a:r>
          </a:p>
        </p:txBody>
      </p:sp>
      <p:pic>
        <p:nvPicPr>
          <p:cNvPr id="12" name="Picture 11" descr="image.png"/>
          <p:cNvPicPr>
            <a:picLocks noChangeAspect="1"/>
          </p:cNvPicPr>
          <p:nvPr/>
        </p:nvPicPr>
        <p:blipFill>
          <a:blip r:embed="rId5"/>
          <a:stretch>
            <a:fillRect/>
          </a:stretch>
        </p:blipFill>
        <p:spPr>
          <a:xfrm>
            <a:off x="8778240" y="4297680"/>
            <a:ext cx="2377440" cy="1097280"/>
          </a:xfrm>
          <a:prstGeom prst="rect">
            <a:avLst/>
          </a:prstGeom>
        </p:spPr>
      </p:pic>
      <p:sp>
        <p:nvSpPr>
          <p:cNvPr id="13" name="TextBox 12"/>
          <p:cNvSpPr txBox="1"/>
          <p:nvPr/>
        </p:nvSpPr>
        <p:spPr>
          <a:xfrm>
            <a:off x="10607040" y="5212080"/>
            <a:ext cx="457200" cy="274320"/>
          </a:xfrm>
          <a:prstGeom prst="rect">
            <a:avLst/>
          </a:prstGeom>
          <a:noFill/>
        </p:spPr>
        <p:txBody>
          <a:bodyPr wrap="none">
            <a:spAutoFit/>
          </a:bodyPr>
          <a:lstStyle/>
          <a:p>
            <a:pPr algn="r"/>
            <a:r>
              <a:rPr sz="900" b="0" i="0">
                <a:solidFill>
                  <a:srgbClr val="646469"/>
                </a:solidFill>
                <a:latin typeface="Segoe UI"/>
              </a:rPr>
              <a:t>[4]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実験1：引張試験</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8 / 20</a:t>
            </a:r>
          </a:p>
        </p:txBody>
      </p:sp>
      <p:sp>
        <p:nvSpPr>
          <p:cNvPr id="5" name="TextBox 4"/>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DMAAmゲルの作成条件</a:t>
            </a:r>
          </a:p>
        </p:txBody>
      </p:sp>
      <p:sp>
        <p:nvSpPr>
          <p:cNvPr id="6" name="Rectangle 5"/>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2286000" y="1920240"/>
          <a:ext cx="7772400" cy="2514600"/>
        </p:xfrm>
        <a:graphic>
          <a:graphicData uri="http://schemas.openxmlformats.org/drawingml/2006/table">
            <a:tbl>
              <a:tblPr firstRow="1" bandRow="1">
                <a:tableStyleId>{5C22544A-7EE6-4342-B048-85BDC9FD1C3A}</a:tableStyleId>
              </a:tblPr>
              <a:tblGrid>
                <a:gridCol w="1943100"/>
                <a:gridCol w="1943100"/>
                <a:gridCol w="1943100"/>
                <a:gridCol w="1943100"/>
              </a:tblGrid>
              <a:tr h="502920">
                <a:tc>
                  <a:txBody>
                    <a:bodyPr wrap="square" lIns="73152" rIns="73152" tIns="36576" bIns="36576"/>
                    <a:lstStyle/>
                    <a:p>
                      <a:pPr algn="ctr"/>
                      <a:r>
                        <a:rPr sz="1100" b="1" i="0">
                          <a:solidFill>
                            <a:srgbClr val="FFFFFF"/>
                          </a:solidFill>
                          <a:latin typeface="Meiryo UI"/>
                        </a:rPr>
                        <a:t/>
                      </a:r>
                    </a:p>
                  </a:txBody>
                  <a:tcPr>
                    <a:solidFill>
                      <a:srgbClr val="19376D"/>
                    </a:solidFill>
                  </a:tcPr>
                </a:tc>
                <a:tc>
                  <a:txBody>
                    <a:bodyPr wrap="square" lIns="73152" rIns="73152" tIns="36576" bIns="36576"/>
                    <a:lstStyle/>
                    <a:p>
                      <a:pPr algn="ctr"/>
                      <a:r>
                        <a:rPr sz="1100" b="1" i="0">
                          <a:solidFill>
                            <a:srgbClr val="FFFFFF"/>
                          </a:solidFill>
                          <a:latin typeface="Meiryo UI"/>
                        </a:rPr>
                        <a:t>DMAAm 2 [mol/L]</a:t>
                      </a:r>
                    </a:p>
                  </a:txBody>
                  <a:tcPr>
                    <a:solidFill>
                      <a:srgbClr val="19376D"/>
                    </a:solidFill>
                  </a:tcPr>
                </a:tc>
                <a:tc>
                  <a:txBody>
                    <a:bodyPr wrap="square" lIns="73152" rIns="73152" tIns="36576" bIns="36576"/>
                    <a:lstStyle/>
                    <a:p>
                      <a:pPr algn="ctr"/>
                      <a:r>
                        <a:rPr sz="1100" b="1" i="0">
                          <a:solidFill>
                            <a:srgbClr val="FFFFFF"/>
                          </a:solidFill>
                          <a:latin typeface="Meiryo UI"/>
                        </a:rPr>
                        <a:t>DMAAm 3 [mol/L]</a:t>
                      </a:r>
                    </a:p>
                  </a:txBody>
                  <a:tcPr>
                    <a:solidFill>
                      <a:srgbClr val="19376D"/>
                    </a:solidFill>
                  </a:tcPr>
                </a:tc>
                <a:tc>
                  <a:txBody>
                    <a:bodyPr wrap="square" lIns="73152" rIns="73152" tIns="36576" bIns="36576"/>
                    <a:lstStyle/>
                    <a:p>
                      <a:pPr algn="ctr"/>
                      <a:r>
                        <a:rPr sz="1100" b="1" i="0">
                          <a:solidFill>
                            <a:srgbClr val="FFFFFF"/>
                          </a:solidFill>
                          <a:latin typeface="Meiryo UI"/>
                        </a:rPr>
                        <a:t>DMAAm 4 [mol/L]</a:t>
                      </a:r>
                    </a:p>
                  </a:txBody>
                  <a:tcPr>
                    <a:solidFill>
                      <a:srgbClr val="19376D"/>
                    </a:solidFill>
                  </a:tcPr>
                </a:tc>
              </a:tr>
              <a:tr h="502920">
                <a:tc>
                  <a:txBody>
                    <a:bodyPr wrap="square" lIns="73152" rIns="73152" tIns="36576" bIns="36576"/>
                    <a:lstStyle/>
                    <a:p>
                      <a:pPr algn="l"/>
                      <a:r>
                        <a:rPr sz="1100" b="0" i="0">
                          <a:solidFill>
                            <a:srgbClr val="2D2D30"/>
                          </a:solidFill>
                          <a:latin typeface="Meiryo UI"/>
                        </a:rPr>
                        <a:t>イオン液体 [g]</a:t>
                      </a:r>
                    </a:p>
                  </a:txBody>
                  <a:tcPr>
                    <a:solidFill>
                      <a:srgbClr val="FFFFFF"/>
                    </a:solidFill>
                  </a:tcPr>
                </a:tc>
                <a:tc>
                  <a:txBody>
                    <a:bodyPr wrap="square" lIns="73152" rIns="73152" tIns="36576" bIns="36576"/>
                    <a:lstStyle/>
                    <a:p>
                      <a:pPr algn="ctr"/>
                      <a:r>
                        <a:rPr sz="1100" b="0" i="0">
                          <a:solidFill>
                            <a:srgbClr val="2D2D30"/>
                          </a:solidFill>
                          <a:latin typeface="Meiryo UI"/>
                        </a:rPr>
                        <a:t>13.597</a:t>
                      </a:r>
                    </a:p>
                  </a:txBody>
                  <a:tcPr>
                    <a:solidFill>
                      <a:srgbClr val="FFFFFF"/>
                    </a:solidFill>
                  </a:tcPr>
                </a:tc>
                <a:tc>
                  <a:txBody>
                    <a:bodyPr wrap="square" lIns="73152" rIns="73152" tIns="36576" bIns="36576"/>
                    <a:lstStyle/>
                    <a:p>
                      <a:pPr algn="ctr"/>
                      <a:r>
                        <a:rPr sz="1100" b="0" i="0">
                          <a:solidFill>
                            <a:srgbClr val="2D2D30"/>
                          </a:solidFill>
                          <a:latin typeface="Meiryo UI"/>
                        </a:rPr>
                        <a:t>13.607</a:t>
                      </a:r>
                    </a:p>
                  </a:txBody>
                  <a:tcPr>
                    <a:solidFill>
                      <a:srgbClr val="FFFFFF"/>
                    </a:solidFill>
                  </a:tcPr>
                </a:tc>
                <a:tc>
                  <a:txBody>
                    <a:bodyPr wrap="square" lIns="73152" rIns="73152" tIns="36576" bIns="36576"/>
                    <a:lstStyle/>
                    <a:p>
                      <a:pPr algn="ctr"/>
                      <a:r>
                        <a:rPr sz="1100" b="0" i="0">
                          <a:solidFill>
                            <a:srgbClr val="2D2D30"/>
                          </a:solidFill>
                          <a:latin typeface="Meiryo UI"/>
                        </a:rPr>
                        <a:t>13.620</a:t>
                      </a:r>
                    </a:p>
                  </a:txBody>
                  <a:tcPr>
                    <a:solidFill>
                      <a:srgbClr val="FFFFFF"/>
                    </a:solidFill>
                  </a:tcPr>
                </a:tc>
              </a:tr>
              <a:tr h="502920">
                <a:tc>
                  <a:txBody>
                    <a:bodyPr wrap="square" lIns="73152" rIns="73152" tIns="36576" bIns="36576"/>
                    <a:lstStyle/>
                    <a:p>
                      <a:pPr algn="l"/>
                      <a:r>
                        <a:rPr sz="1100" b="0" i="0">
                          <a:solidFill>
                            <a:srgbClr val="2D2D30"/>
                          </a:solidFill>
                          <a:latin typeface="Meiryo UI"/>
                        </a:rPr>
                        <a:t>架橋剤 [g]</a:t>
                      </a:r>
                    </a:p>
                  </a:txBody>
                  <a:tcPr>
                    <a:solidFill>
                      <a:srgbClr val="EBF0F8"/>
                    </a:solidFill>
                  </a:tcPr>
                </a:tc>
                <a:tc>
                  <a:txBody>
                    <a:bodyPr wrap="square" lIns="73152" rIns="73152" tIns="36576" bIns="36576"/>
                    <a:lstStyle/>
                    <a:p>
                      <a:pPr algn="ctr"/>
                      <a:r>
                        <a:rPr sz="1100" b="0" i="0">
                          <a:solidFill>
                            <a:srgbClr val="2D2D30"/>
                          </a:solidFill>
                          <a:latin typeface="Meiryo UI"/>
                        </a:rPr>
                        <a:t>0.061</a:t>
                      </a:r>
                    </a:p>
                  </a:txBody>
                  <a:tcPr>
                    <a:solidFill>
                      <a:srgbClr val="EBF0F8"/>
                    </a:solidFill>
                  </a:tcPr>
                </a:tc>
                <a:tc>
                  <a:txBody>
                    <a:bodyPr wrap="square" lIns="73152" rIns="73152" tIns="36576" bIns="36576"/>
                    <a:lstStyle/>
                    <a:p>
                      <a:pPr algn="ctr"/>
                      <a:r>
                        <a:rPr sz="1100" b="0" i="0">
                          <a:solidFill>
                            <a:srgbClr val="2D2D30"/>
                          </a:solidFill>
                          <a:latin typeface="Meiryo UI"/>
                        </a:rPr>
                        <a:t>0.061</a:t>
                      </a:r>
                    </a:p>
                  </a:txBody>
                  <a:tcPr>
                    <a:solidFill>
                      <a:srgbClr val="EBF0F8"/>
                    </a:solidFill>
                  </a:tcPr>
                </a:tc>
                <a:tc>
                  <a:txBody>
                    <a:bodyPr wrap="square" lIns="73152" rIns="73152" tIns="36576" bIns="36576"/>
                    <a:lstStyle/>
                    <a:p>
                      <a:pPr algn="ctr"/>
                      <a:r>
                        <a:rPr sz="1100" b="0" i="0">
                          <a:solidFill>
                            <a:srgbClr val="2D2D30"/>
                          </a:solidFill>
                          <a:latin typeface="Meiryo UI"/>
                        </a:rPr>
                        <a:t>0.061</a:t>
                      </a:r>
                    </a:p>
                  </a:txBody>
                  <a:tcPr>
                    <a:solidFill>
                      <a:srgbClr val="EBF0F8"/>
                    </a:solidFill>
                  </a:tcPr>
                </a:tc>
              </a:tr>
              <a:tr h="502920">
                <a:tc>
                  <a:txBody>
                    <a:bodyPr wrap="square" lIns="73152" rIns="73152" tIns="36576" bIns="36576"/>
                    <a:lstStyle/>
                    <a:p>
                      <a:pPr algn="l"/>
                      <a:r>
                        <a:rPr sz="1100" b="0" i="0">
                          <a:solidFill>
                            <a:srgbClr val="2D2D30"/>
                          </a:solidFill>
                          <a:latin typeface="Meiryo UI"/>
                        </a:rPr>
                        <a:t>モノマー [g]</a:t>
                      </a:r>
                    </a:p>
                  </a:txBody>
                  <a:tcPr>
                    <a:solidFill>
                      <a:srgbClr val="FFFFFF"/>
                    </a:solidFill>
                  </a:tcPr>
                </a:tc>
                <a:tc>
                  <a:txBody>
                    <a:bodyPr wrap="square" lIns="73152" rIns="73152" tIns="36576" bIns="36576"/>
                    <a:lstStyle/>
                    <a:p>
                      <a:pPr algn="ctr"/>
                      <a:r>
                        <a:rPr sz="1100" b="0" i="0">
                          <a:solidFill>
                            <a:srgbClr val="2D2D30"/>
                          </a:solidFill>
                          <a:latin typeface="Meiryo UI"/>
                        </a:rPr>
                        <a:t>1.983</a:t>
                      </a:r>
                    </a:p>
                  </a:txBody>
                  <a:tcPr>
                    <a:solidFill>
                      <a:srgbClr val="FFFFFF"/>
                    </a:solidFill>
                  </a:tcPr>
                </a:tc>
                <a:tc>
                  <a:txBody>
                    <a:bodyPr wrap="square" lIns="73152" rIns="73152" tIns="36576" bIns="36576"/>
                    <a:lstStyle/>
                    <a:p>
                      <a:pPr algn="ctr"/>
                      <a:r>
                        <a:rPr sz="1100" b="0" i="0">
                          <a:solidFill>
                            <a:srgbClr val="2D2D30"/>
                          </a:solidFill>
                          <a:latin typeface="Meiryo UI"/>
                        </a:rPr>
                        <a:t>2.974</a:t>
                      </a:r>
                    </a:p>
                  </a:txBody>
                  <a:tcPr>
                    <a:solidFill>
                      <a:srgbClr val="FFFFFF"/>
                    </a:solidFill>
                  </a:tcPr>
                </a:tc>
                <a:tc>
                  <a:txBody>
                    <a:bodyPr wrap="square" lIns="73152" rIns="73152" tIns="36576" bIns="36576"/>
                    <a:lstStyle/>
                    <a:p>
                      <a:pPr algn="ctr"/>
                      <a:r>
                        <a:rPr sz="1100" b="0" i="0">
                          <a:solidFill>
                            <a:srgbClr val="2D2D30"/>
                          </a:solidFill>
                          <a:latin typeface="Meiryo UI"/>
                        </a:rPr>
                        <a:t>3.965</a:t>
                      </a:r>
                    </a:p>
                  </a:txBody>
                  <a:tcPr>
                    <a:solidFill>
                      <a:srgbClr val="FFFFFF"/>
                    </a:solidFill>
                  </a:tcPr>
                </a:tc>
              </a:tr>
              <a:tr h="502920">
                <a:tc>
                  <a:txBody>
                    <a:bodyPr wrap="square" lIns="73152" rIns="73152" tIns="36576" bIns="36576"/>
                    <a:lstStyle/>
                    <a:p>
                      <a:pPr algn="l"/>
                      <a:r>
                        <a:rPr sz="1100" b="0" i="0">
                          <a:solidFill>
                            <a:srgbClr val="2D2D30"/>
                          </a:solidFill>
                          <a:latin typeface="Meiryo UI"/>
                        </a:rPr>
                        <a:t>開始剤 [mg]</a:t>
                      </a:r>
                    </a:p>
                  </a:txBody>
                  <a:tcPr>
                    <a:solidFill>
                      <a:srgbClr val="EBF0F8"/>
                    </a:solidFill>
                  </a:tcPr>
                </a:tc>
                <a:tc>
                  <a:txBody>
                    <a:bodyPr wrap="square" lIns="73152" rIns="73152" tIns="36576" bIns="36576"/>
                    <a:lstStyle/>
                    <a:p>
                      <a:pPr algn="ctr"/>
                      <a:r>
                        <a:rPr sz="1100" b="0" i="0">
                          <a:solidFill>
                            <a:srgbClr val="2D2D30"/>
                          </a:solidFill>
                          <a:latin typeface="Meiryo UI"/>
                        </a:rPr>
                        <a:t>3.0</a:t>
                      </a:r>
                    </a:p>
                  </a:txBody>
                  <a:tcPr>
                    <a:solidFill>
                      <a:srgbClr val="EBF0F8"/>
                    </a:solidFill>
                  </a:tcPr>
                </a:tc>
                <a:tc>
                  <a:txBody>
                    <a:bodyPr wrap="square" lIns="73152" rIns="73152" tIns="36576" bIns="36576"/>
                    <a:lstStyle/>
                    <a:p>
                      <a:pPr algn="ctr"/>
                      <a:r>
                        <a:rPr sz="1100" b="0" i="0">
                          <a:solidFill>
                            <a:srgbClr val="2D2D30"/>
                          </a:solidFill>
                          <a:latin typeface="Meiryo UI"/>
                        </a:rPr>
                        <a:t>3.1</a:t>
                      </a:r>
                    </a:p>
                  </a:txBody>
                  <a:tcPr>
                    <a:solidFill>
                      <a:srgbClr val="EBF0F8"/>
                    </a:solidFill>
                  </a:tcPr>
                </a:tc>
                <a:tc>
                  <a:txBody>
                    <a:bodyPr wrap="square" lIns="73152" rIns="73152" tIns="36576" bIns="36576"/>
                    <a:lstStyle/>
                    <a:p>
                      <a:pPr algn="ctr"/>
                      <a:r>
                        <a:rPr sz="1100" b="0" i="0">
                          <a:solidFill>
                            <a:srgbClr val="2D2D30"/>
                          </a:solidFill>
                          <a:latin typeface="Meiryo UI"/>
                        </a:rPr>
                        <a:t>3.1</a:t>
                      </a:r>
                    </a:p>
                  </a:txBody>
                  <a:tcPr>
                    <a:solidFill>
                      <a:srgbClr val="EBF0F8"/>
                    </a:solidFill>
                  </a:tcPr>
                </a:tc>
              </a:tr>
            </a:tbl>
          </a:graphicData>
        </a:graphic>
      </p:graphicFrame>
      <p:sp>
        <p:nvSpPr>
          <p:cNvPr id="8" name="TextBox 7"/>
          <p:cNvSpPr txBox="1"/>
          <p:nvPr/>
        </p:nvSpPr>
        <p:spPr>
          <a:xfrm>
            <a:off x="2286000" y="4663440"/>
            <a:ext cx="7772400" cy="365760"/>
          </a:xfrm>
          <a:prstGeom prst="rect">
            <a:avLst/>
          </a:prstGeom>
          <a:noFill/>
        </p:spPr>
        <p:txBody>
          <a:bodyPr wrap="none">
            <a:spAutoFit/>
          </a:bodyPr>
          <a:lstStyle/>
          <a:p>
            <a:pPr algn="ctr"/>
            <a:r>
              <a:rPr sz="1200" b="0" i="0">
                <a:solidFill>
                  <a:srgbClr val="646469"/>
                </a:solidFill>
                <a:latin typeface="Meiryo UI"/>
              </a:rPr>
              <a:t>表1. DMAAmゲルを作る際に実際に使用した材料の分量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9 / 20</a:t>
            </a:r>
          </a:p>
        </p:txBody>
      </p:sp>
      <p:pic>
        <p:nvPicPr>
          <p:cNvPr id="5" name="Picture 4" descr="image.png"/>
          <p:cNvPicPr>
            <a:picLocks noChangeAspect="1"/>
          </p:cNvPicPr>
          <p:nvPr/>
        </p:nvPicPr>
        <p:blipFill>
          <a:blip r:embed="rId2"/>
          <a:stretch>
            <a:fillRect/>
          </a:stretch>
        </p:blipFill>
        <p:spPr>
          <a:xfrm>
            <a:off x="1523847" y="1097280"/>
            <a:ext cx="9144000" cy="4754880"/>
          </a:xfrm>
          <a:prstGeom prst="rect">
            <a:avLst/>
          </a:prstGeom>
        </p:spPr>
      </p:pic>
      <p:sp>
        <p:nvSpPr>
          <p:cNvPr id="6" name="TextBox 5"/>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図3. DMAAm 2[mol/L] の力-変位曲線</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10 / 20</a:t>
            </a:r>
          </a:p>
        </p:txBody>
      </p:sp>
      <p:pic>
        <p:nvPicPr>
          <p:cNvPr id="5" name="Picture 4" descr="image.png"/>
          <p:cNvPicPr>
            <a:picLocks noChangeAspect="1"/>
          </p:cNvPicPr>
          <p:nvPr/>
        </p:nvPicPr>
        <p:blipFill>
          <a:blip r:embed="rId2"/>
          <a:stretch>
            <a:fillRect/>
          </a:stretch>
        </p:blipFill>
        <p:spPr>
          <a:xfrm>
            <a:off x="1523847" y="1097280"/>
            <a:ext cx="9144000" cy="4754880"/>
          </a:xfrm>
          <a:prstGeom prst="rect">
            <a:avLst/>
          </a:prstGeom>
        </p:spPr>
      </p:pic>
      <p:sp>
        <p:nvSpPr>
          <p:cNvPr id="6" name="TextBox 5"/>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図4. DMAAm 3[mol/L] の力-変位曲線</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11 / 20</a:t>
            </a:r>
          </a:p>
        </p:txBody>
      </p:sp>
      <p:pic>
        <p:nvPicPr>
          <p:cNvPr id="5" name="Picture 4" descr="image.png"/>
          <p:cNvPicPr>
            <a:picLocks noChangeAspect="1"/>
          </p:cNvPicPr>
          <p:nvPr/>
        </p:nvPicPr>
        <p:blipFill>
          <a:blip r:embed="rId2"/>
          <a:stretch>
            <a:fillRect/>
          </a:stretch>
        </p:blipFill>
        <p:spPr>
          <a:xfrm>
            <a:off x="1523847" y="1097280"/>
            <a:ext cx="9144000" cy="4754880"/>
          </a:xfrm>
          <a:prstGeom prst="rect">
            <a:avLst/>
          </a:prstGeom>
        </p:spPr>
      </p:pic>
      <p:sp>
        <p:nvSpPr>
          <p:cNvPr id="6" name="TextBox 5"/>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図5. DMAAm 4[mol/L] の力-変位曲線</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12 / 20</a:t>
            </a:r>
          </a:p>
        </p:txBody>
      </p:sp>
      <p:pic>
        <p:nvPicPr>
          <p:cNvPr id="5" name="Picture 4" descr="image.png"/>
          <p:cNvPicPr>
            <a:picLocks noChangeAspect="1"/>
          </p:cNvPicPr>
          <p:nvPr/>
        </p:nvPicPr>
        <p:blipFill>
          <a:blip r:embed="rId2"/>
          <a:stretch>
            <a:fillRect/>
          </a:stretch>
        </p:blipFill>
        <p:spPr>
          <a:xfrm>
            <a:off x="1523847" y="1097280"/>
            <a:ext cx="9144000" cy="4754880"/>
          </a:xfrm>
          <a:prstGeom prst="rect">
            <a:avLst/>
          </a:prstGeom>
        </p:spPr>
      </p:pic>
      <p:sp>
        <p:nvSpPr>
          <p:cNvPr id="6" name="TextBox 5"/>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図6. DMAAm 各濃度の重ね合わせ力-変位曲線</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実験1：引張試験結果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13 / 20</a:t>
            </a:r>
          </a:p>
        </p:txBody>
      </p:sp>
      <p:pic>
        <p:nvPicPr>
          <p:cNvPr id="5" name="Picture 4" descr="image.png"/>
          <p:cNvPicPr>
            <a:picLocks noChangeAspect="1"/>
          </p:cNvPicPr>
          <p:nvPr/>
        </p:nvPicPr>
        <p:blipFill>
          <a:blip r:embed="rId2"/>
          <a:stretch>
            <a:fillRect/>
          </a:stretch>
        </p:blipFill>
        <p:spPr>
          <a:xfrm>
            <a:off x="2666847" y="1051560"/>
            <a:ext cx="6858000" cy="5029200"/>
          </a:xfrm>
          <a:prstGeom prst="rect">
            <a:avLst/>
          </a:prstGeom>
        </p:spPr>
      </p:pic>
      <p:sp>
        <p:nvSpPr>
          <p:cNvPr id="6" name="TextBox 5"/>
          <p:cNvSpPr txBox="1"/>
          <p:nvPr/>
        </p:nvSpPr>
        <p:spPr>
          <a:xfrm>
            <a:off x="1828800" y="6080760"/>
            <a:ext cx="8229600" cy="365760"/>
          </a:xfrm>
          <a:prstGeom prst="rect">
            <a:avLst/>
          </a:prstGeom>
          <a:noFill/>
        </p:spPr>
        <p:txBody>
          <a:bodyPr wrap="none">
            <a:spAutoFit/>
          </a:bodyPr>
          <a:lstStyle/>
          <a:p>
            <a:pPr algn="ctr"/>
            <a:r>
              <a:rPr sz="1400" b="1" i="0">
                <a:solidFill>
                  <a:srgbClr val="646469"/>
                </a:solidFill>
                <a:latin typeface="Meiryo UI"/>
              </a:rPr>
              <a:t>図7. DMAAm 濃度別ピーク荷重の箱ひげ図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B45F1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考察1：引張試験</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14 / 20</a:t>
            </a:r>
          </a:p>
        </p:txBody>
      </p:sp>
      <p:sp>
        <p:nvSpPr>
          <p:cNvPr id="5" name="TextBox 4"/>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引張試験に関する考察</a:t>
            </a:r>
          </a:p>
        </p:txBody>
      </p:sp>
      <p:sp>
        <p:nvSpPr>
          <p:cNvPr id="6" name="Rectangle 5"/>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737360"/>
            <a:ext cx="11094415" cy="3200400"/>
          </a:xfrm>
          <a:prstGeom prst="roundRect">
            <a:avLst>
              <a:gd name="adj" fmla="val 2000"/>
            </a:avLst>
          </a:prstGeom>
          <a:solidFill>
            <a:srgbClr val="F5F7FA"/>
          </a:solidFill>
          <a:ln w="9525">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10545775" cy="2926080"/>
          </a:xfrm>
          <a:prstGeom prst="rect">
            <a:avLst/>
          </a:prstGeom>
          <a:noFill/>
        </p:spPr>
        <p:txBody>
          <a:bodyPr wrap="square">
            <a:spAutoFit/>
          </a:bodyPr>
          <a:lstStyle/>
          <a:p>
            <a:pPr>
              <a:lnSpc>
                <a:spcPts val="2550"/>
              </a:lnSpc>
              <a:spcBef>
                <a:spcPts val="300"/>
              </a:spcBef>
              <a:spcAft>
                <a:spcPts val="300"/>
              </a:spcAft>
            </a:pPr>
            <a:r>
              <a:rPr sz="1500" b="0" i="0">
                <a:solidFill>
                  <a:srgbClr val="2D2D30"/>
                </a:solidFill>
                <a:latin typeface="Meiryo UI"/>
              </a:rPr>
              <a:t>図3～図6より、モノマーが2[mol/L]から4[mol/L]の濃度範囲では、モノマーの濃度を大きくするほど強度が高くなることがわかった。</a:t>
            </a:r>
          </a:p>
          <a:p>
            <a:pPr>
              <a:lnSpc>
                <a:spcPts val="2550"/>
              </a:lnSpc>
              <a:spcBef>
                <a:spcPts val="300"/>
              </a:spcBef>
              <a:spcAft>
                <a:spcPts val="300"/>
              </a:spcAft>
            </a:pPr>
            <a:r>
              <a:rPr sz="1500" b="0" i="0">
                <a:solidFill>
                  <a:srgbClr val="2D2D30"/>
                </a:solidFill>
                <a:latin typeface="Meiryo UI"/>
              </a:rPr>
              <a:t>モノマーが2[mol/L]の場合、試験片を作成する際や実際に引張試験をする際にも、その脆さから操作が難しく、センサーへの応用はかなり限定的な場面に限られると考えられる。</a:t>
            </a:r>
          </a:p>
          <a:p>
            <a:pPr>
              <a:lnSpc>
                <a:spcPts val="2550"/>
              </a:lnSpc>
              <a:spcBef>
                <a:spcPts val="300"/>
              </a:spcBef>
              <a:spcAft>
                <a:spcPts val="300"/>
              </a:spcAft>
            </a:pPr>
            <a:r>
              <a:rPr sz="1500" b="0" i="0">
                <a:solidFill>
                  <a:srgbClr val="2D2D30"/>
                </a:solidFill>
                <a:latin typeface="Meiryo UI"/>
              </a:rPr>
              <a:t>モノマー濃度が4[mol/L]のものが最も強度が高かったので、今回の実験ではこの濃度のDMAAmゲルを使用して実験2を行った。</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78A0"/>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実験2：インピーダンス測定</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15 / 20</a:t>
            </a:r>
          </a:p>
        </p:txBody>
      </p:sp>
      <p:sp>
        <p:nvSpPr>
          <p:cNvPr id="5" name="TextBox 4"/>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測定条件</a:t>
            </a:r>
          </a:p>
        </p:txBody>
      </p:sp>
      <p:sp>
        <p:nvSpPr>
          <p:cNvPr id="6" name="Rectangle 5"/>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11094415" cy="457200"/>
          </a:xfrm>
          <a:prstGeom prst="rect">
            <a:avLst/>
          </a:prstGeom>
          <a:noFill/>
        </p:spPr>
        <p:txBody>
          <a:bodyPr wrap="square">
            <a:spAutoFit/>
          </a:bodyPr>
          <a:lstStyle/>
          <a:p>
            <a:r>
              <a:rPr sz="1400" b="0" i="0">
                <a:solidFill>
                  <a:srgbClr val="2D2D30"/>
                </a:solidFill>
                <a:latin typeface="Meiryo UI"/>
              </a:rPr>
              <a:t>シャーレに作成したDMAAmゲル 4[mol/L]について、Analog Discovery 3を用いて加圧によるインピーダンスの変化を測定した。</a:t>
            </a:r>
          </a:p>
        </p:txBody>
      </p:sp>
      <p:graphicFrame>
        <p:nvGraphicFramePr>
          <p:cNvPr id="8" name="Table 7"/>
          <p:cNvGraphicFramePr>
            <a:graphicFrameLocks noGrp="1"/>
          </p:cNvGraphicFramePr>
          <p:nvPr/>
        </p:nvGraphicFramePr>
        <p:xfrm>
          <a:off x="1371600" y="2286000"/>
          <a:ext cx="9418320" cy="3657600"/>
        </p:xfrm>
        <a:graphic>
          <a:graphicData uri="http://schemas.openxmlformats.org/drawingml/2006/table">
            <a:tbl>
              <a:tblPr firstRow="1" bandRow="1">
                <a:tableStyleId>{5C22544A-7EE6-4342-B048-85BDC9FD1C3A}</a:tableStyleId>
              </a:tblPr>
              <a:tblGrid>
                <a:gridCol w="3139440"/>
                <a:gridCol w="3139440"/>
                <a:gridCol w="3139440"/>
              </a:tblGrid>
              <a:tr h="457200">
                <a:tc>
                  <a:txBody>
                    <a:bodyPr wrap="square" lIns="73152" rIns="73152" tIns="36576" bIns="36576"/>
                    <a:lstStyle/>
                    <a:p>
                      <a:pPr algn="ctr"/>
                      <a:r>
                        <a:rPr sz="1100" b="1" i="0">
                          <a:solidFill>
                            <a:srgbClr val="FFFFFF"/>
                          </a:solidFill>
                          <a:latin typeface="Meiryo UI"/>
                        </a:rPr>
                        <a:t>項目</a:t>
                      </a:r>
                    </a:p>
                  </a:txBody>
                  <a:tcPr>
                    <a:solidFill>
                      <a:srgbClr val="19376D"/>
                    </a:solidFill>
                  </a:tcPr>
                </a:tc>
                <a:tc>
                  <a:txBody>
                    <a:bodyPr wrap="square" lIns="73152" rIns="73152" tIns="36576" bIns="36576"/>
                    <a:lstStyle/>
                    <a:p>
                      <a:pPr algn="ctr"/>
                      <a:r>
                        <a:rPr sz="1100" b="1" i="0">
                          <a:solidFill>
                            <a:srgbClr val="FFFFFF"/>
                          </a:solidFill>
                          <a:latin typeface="Meiryo UI"/>
                        </a:rPr>
                        <a:t>条件・設定値</a:t>
                      </a:r>
                    </a:p>
                  </a:txBody>
                  <a:tcPr>
                    <a:solidFill>
                      <a:srgbClr val="19376D"/>
                    </a:solidFill>
                  </a:tcPr>
                </a:tc>
                <a:tc>
                  <a:txBody>
                    <a:bodyPr wrap="square" lIns="73152" rIns="73152" tIns="36576" bIns="36576"/>
                    <a:lstStyle/>
                    <a:p>
                      <a:pPr algn="ctr"/>
                      <a:r>
                        <a:rPr sz="1100" b="1" i="0">
                          <a:solidFill>
                            <a:srgbClr val="FFFFFF"/>
                          </a:solidFill>
                          <a:latin typeface="Meiryo UI"/>
                        </a:rPr>
                        <a:t>備考</a:t>
                      </a:r>
                    </a:p>
                  </a:txBody>
                  <a:tcPr>
                    <a:solidFill>
                      <a:srgbClr val="19376D"/>
                    </a:solidFill>
                  </a:tcPr>
                </a:tc>
              </a:tr>
              <a:tr h="457200">
                <a:tc>
                  <a:txBody>
                    <a:bodyPr wrap="square" lIns="73152" rIns="73152" tIns="36576" bIns="36576"/>
                    <a:lstStyle/>
                    <a:p>
                      <a:pPr algn="l"/>
                      <a:r>
                        <a:rPr sz="1100" b="0" i="0">
                          <a:solidFill>
                            <a:srgbClr val="2D2D30"/>
                          </a:solidFill>
                          <a:latin typeface="Meiryo UI"/>
                        </a:rPr>
                        <a:t>試料</a:t>
                      </a:r>
                    </a:p>
                  </a:txBody>
                  <a:tcPr>
                    <a:solidFill>
                      <a:srgbClr val="FFFFFF"/>
                    </a:solidFill>
                  </a:tcPr>
                </a:tc>
                <a:tc>
                  <a:txBody>
                    <a:bodyPr wrap="square" lIns="73152" rIns="73152" tIns="36576" bIns="36576"/>
                    <a:lstStyle/>
                    <a:p>
                      <a:pPr algn="ctr"/>
                      <a:r>
                        <a:rPr sz="1100" b="0" i="0">
                          <a:solidFill>
                            <a:srgbClr val="2D2D30"/>
                          </a:solidFill>
                          <a:latin typeface="Meiryo UI"/>
                        </a:rPr>
                        <a:t>DMAAmゲル (4 mol/L)</a:t>
                      </a:r>
                    </a:p>
                  </a:txBody>
                  <a:tcPr>
                    <a:solidFill>
                      <a:srgbClr val="FFFFFF"/>
                    </a:solidFill>
                  </a:tcPr>
                </a:tc>
                <a:tc>
                  <a:txBody>
                    <a:bodyPr wrap="square" lIns="73152" rIns="73152" tIns="36576" bIns="36576"/>
                    <a:lstStyle/>
                    <a:p>
                      <a:pPr algn="ctr"/>
                      <a:r>
                        <a:rPr sz="1100" b="0" i="0">
                          <a:solidFill>
                            <a:srgbClr val="2D2D30"/>
                          </a:solidFill>
                          <a:latin typeface="Meiryo UI"/>
                        </a:rPr>
                        <a:t>初期厚さ: 6 mm</a:t>
                      </a:r>
                    </a:p>
                  </a:txBody>
                  <a:tcPr>
                    <a:solidFill>
                      <a:srgbClr val="FFFFFF"/>
                    </a:solidFill>
                  </a:tcPr>
                </a:tc>
              </a:tr>
              <a:tr h="457200">
                <a:tc>
                  <a:txBody>
                    <a:bodyPr wrap="square" lIns="73152" rIns="73152" tIns="36576" bIns="36576"/>
                    <a:lstStyle/>
                    <a:p>
                      <a:pPr algn="l"/>
                      <a:r>
                        <a:rPr sz="1100" b="0" i="0">
                          <a:solidFill>
                            <a:srgbClr val="2D2D30"/>
                          </a:solidFill>
                          <a:latin typeface="Meiryo UI"/>
                        </a:rPr>
                        <a:t>電極</a:t>
                      </a:r>
                    </a:p>
                  </a:txBody>
                  <a:tcPr>
                    <a:solidFill>
                      <a:srgbClr val="EBF0F8"/>
                    </a:solidFill>
                  </a:tcPr>
                </a:tc>
                <a:tc>
                  <a:txBody>
                    <a:bodyPr wrap="square" lIns="73152" rIns="73152" tIns="36576" bIns="36576"/>
                    <a:lstStyle/>
                    <a:p>
                      <a:pPr algn="ctr"/>
                      <a:r>
                        <a:rPr sz="1100" b="0" i="0">
                          <a:solidFill>
                            <a:srgbClr val="2D2D30"/>
                          </a:solidFill>
                          <a:latin typeface="Meiryo UI"/>
                        </a:rPr>
                        <a:t>アルミニウム箔</a:t>
                      </a:r>
                    </a:p>
                  </a:txBody>
                  <a:tcPr>
                    <a:solidFill>
                      <a:srgbClr val="EBF0F8"/>
                    </a:solidFill>
                  </a:tcPr>
                </a:tc>
                <a:tc>
                  <a:txBody>
                    <a:bodyPr wrap="square" lIns="73152" rIns="73152" tIns="36576" bIns="36576"/>
                    <a:lstStyle/>
                    <a:p>
                      <a:pPr algn="ctr"/>
                      <a:r>
                        <a:rPr sz="1100" b="0" i="0">
                          <a:solidFill>
                            <a:srgbClr val="2D2D30"/>
                          </a:solidFill>
                          <a:latin typeface="Meiryo UI"/>
                        </a:rPr>
                        <a:t>ゲル対角線上に密着貼付</a:t>
                      </a:r>
                    </a:p>
                  </a:txBody>
                  <a:tcPr>
                    <a:solidFill>
                      <a:srgbClr val="EBF0F8"/>
                    </a:solidFill>
                  </a:tcPr>
                </a:tc>
              </a:tr>
              <a:tr h="457200">
                <a:tc>
                  <a:txBody>
                    <a:bodyPr wrap="square" lIns="73152" rIns="73152" tIns="36576" bIns="36576"/>
                    <a:lstStyle/>
                    <a:p>
                      <a:pPr algn="l"/>
                      <a:r>
                        <a:rPr sz="1100" b="0" i="0">
                          <a:solidFill>
                            <a:srgbClr val="2D2D30"/>
                          </a:solidFill>
                          <a:latin typeface="Meiryo UI"/>
                        </a:rPr>
                        <a:t>測定機器</a:t>
                      </a:r>
                    </a:p>
                  </a:txBody>
                  <a:tcPr>
                    <a:solidFill>
                      <a:srgbClr val="FFFFFF"/>
                    </a:solidFill>
                  </a:tcPr>
                </a:tc>
                <a:tc>
                  <a:txBody>
                    <a:bodyPr wrap="square" lIns="73152" rIns="73152" tIns="36576" bIns="36576"/>
                    <a:lstStyle/>
                    <a:p>
                      <a:pPr algn="ctr"/>
                      <a:r>
                        <a:rPr sz="1100" b="0" i="0">
                          <a:solidFill>
                            <a:srgbClr val="2D2D30"/>
                          </a:solidFill>
                          <a:latin typeface="Meiryo UI"/>
                        </a:rPr>
                        <a:t>Analog Discovery 3</a:t>
                      </a:r>
                    </a:p>
                  </a:txBody>
                  <a:tcPr>
                    <a:solidFill>
                      <a:srgbClr val="FFFFFF"/>
                    </a:solidFill>
                  </a:tcPr>
                </a:tc>
                <a:tc>
                  <a:txBody>
                    <a:bodyPr wrap="square" lIns="73152" rIns="73152" tIns="36576" bIns="36576"/>
                    <a:lstStyle/>
                    <a:p>
                      <a:pPr algn="ctr"/>
                      <a:r>
                        <a:rPr sz="1100" b="0" i="0">
                          <a:solidFill>
                            <a:srgbClr val="2D2D30"/>
                          </a:solidFill>
                          <a:latin typeface="Meiryo UI"/>
                        </a:rPr>
                        <a:t>インピーダンスアナライザ機能</a:t>
                      </a:r>
                    </a:p>
                  </a:txBody>
                  <a:tcPr>
                    <a:solidFill>
                      <a:srgbClr val="FFFFFF"/>
                    </a:solidFill>
                  </a:tcPr>
                </a:tc>
              </a:tr>
              <a:tr h="457200">
                <a:tc>
                  <a:txBody>
                    <a:bodyPr wrap="square" lIns="73152" rIns="73152" tIns="36576" bIns="36576"/>
                    <a:lstStyle/>
                    <a:p>
                      <a:pPr algn="l"/>
                      <a:r>
                        <a:rPr sz="1100" b="0" i="0">
                          <a:solidFill>
                            <a:srgbClr val="2D2D30"/>
                          </a:solidFill>
                          <a:latin typeface="Meiryo UI"/>
                        </a:rPr>
                        <a:t>周波数範囲</a:t>
                      </a:r>
                    </a:p>
                  </a:txBody>
                  <a:tcPr>
                    <a:solidFill>
                      <a:srgbClr val="EBF0F8"/>
                    </a:solidFill>
                  </a:tcPr>
                </a:tc>
                <a:tc>
                  <a:txBody>
                    <a:bodyPr wrap="square" lIns="73152" rIns="73152" tIns="36576" bIns="36576"/>
                    <a:lstStyle/>
                    <a:p>
                      <a:pPr algn="ctr"/>
                      <a:r>
                        <a:rPr sz="1100" b="0" i="0">
                          <a:solidFill>
                            <a:srgbClr val="2D2D30"/>
                          </a:solidFill>
                          <a:latin typeface="Meiryo UI"/>
                        </a:rPr>
                        <a:t>1 kHz ～ 100 kHz</a:t>
                      </a:r>
                    </a:p>
                  </a:txBody>
                  <a:tcPr>
                    <a:solidFill>
                      <a:srgbClr val="EBF0F8"/>
                    </a:solidFill>
                  </a:tcPr>
                </a:tc>
                <a:tc>
                  <a:txBody>
                    <a:bodyPr wrap="square" lIns="73152" rIns="73152" tIns="36576" bIns="36576"/>
                    <a:lstStyle/>
                    <a:p>
                      <a:pPr algn="ctr"/>
                      <a:r>
                        <a:rPr sz="1100" b="0" i="0">
                          <a:solidFill>
                            <a:srgbClr val="2D2D30"/>
                          </a:solidFill>
                          <a:latin typeface="Meiryo UI"/>
                        </a:rPr>
                        <a:t/>
                      </a:r>
                    </a:p>
                  </a:txBody>
                  <a:tcPr>
                    <a:solidFill>
                      <a:srgbClr val="EBF0F8"/>
                    </a:solidFill>
                  </a:tcPr>
                </a:tc>
              </a:tr>
              <a:tr h="457200">
                <a:tc>
                  <a:txBody>
                    <a:bodyPr wrap="square" lIns="73152" rIns="73152" tIns="36576" bIns="36576"/>
                    <a:lstStyle/>
                    <a:p>
                      <a:pPr algn="l"/>
                      <a:r>
                        <a:rPr sz="1100" b="0" i="0">
                          <a:solidFill>
                            <a:srgbClr val="2D2D30"/>
                          </a:solidFill>
                          <a:latin typeface="Meiryo UI"/>
                        </a:rPr>
                        <a:t>印加電圧</a:t>
                      </a:r>
                    </a:p>
                  </a:txBody>
                  <a:tcPr>
                    <a:solidFill>
                      <a:srgbClr val="FFFFFF"/>
                    </a:solidFill>
                  </a:tcPr>
                </a:tc>
                <a:tc>
                  <a:txBody>
                    <a:bodyPr wrap="square" lIns="73152" rIns="73152" tIns="36576" bIns="36576"/>
                    <a:lstStyle/>
                    <a:p>
                      <a:pPr algn="ctr"/>
                      <a:r>
                        <a:rPr sz="1100" b="0" i="0">
                          <a:solidFill>
                            <a:srgbClr val="2D2D30"/>
                          </a:solidFill>
                          <a:latin typeface="Meiryo UI"/>
                        </a:rPr>
                        <a:t>振幅 1 V (バイアス 0 V)</a:t>
                      </a:r>
                    </a:p>
                  </a:txBody>
                  <a:tcPr>
                    <a:solidFill>
                      <a:srgbClr val="FFFFFF"/>
                    </a:solidFill>
                  </a:tcPr>
                </a:tc>
                <a:tc>
                  <a:txBody>
                    <a:bodyPr wrap="square" lIns="73152" rIns="73152" tIns="36576" bIns="36576"/>
                    <a:lstStyle/>
                    <a:p>
                      <a:pPr algn="ctr"/>
                      <a:r>
                        <a:rPr sz="1100" b="0" i="0">
                          <a:solidFill>
                            <a:srgbClr val="2D2D30"/>
                          </a:solidFill>
                          <a:latin typeface="Meiryo UI"/>
                        </a:rPr>
                        <a:t/>
                      </a:r>
                    </a:p>
                  </a:txBody>
                  <a:tcPr>
                    <a:solidFill>
                      <a:srgbClr val="FFFFFF"/>
                    </a:solidFill>
                  </a:tcPr>
                </a:tc>
              </a:tr>
              <a:tr h="457200">
                <a:tc>
                  <a:txBody>
                    <a:bodyPr wrap="square" lIns="73152" rIns="73152" tIns="36576" bIns="36576"/>
                    <a:lstStyle/>
                    <a:p>
                      <a:pPr algn="l"/>
                      <a:r>
                        <a:rPr sz="1100" b="0" i="0">
                          <a:solidFill>
                            <a:srgbClr val="2D2D30"/>
                          </a:solidFill>
                          <a:latin typeface="Meiryo UI"/>
                        </a:rPr>
                        <a:t>掃引点数</a:t>
                      </a:r>
                    </a:p>
                  </a:txBody>
                  <a:tcPr>
                    <a:solidFill>
                      <a:srgbClr val="EBF0F8"/>
                    </a:solidFill>
                  </a:tcPr>
                </a:tc>
                <a:tc>
                  <a:txBody>
                    <a:bodyPr wrap="square" lIns="73152" rIns="73152" tIns="36576" bIns="36576"/>
                    <a:lstStyle/>
                    <a:p>
                      <a:pPr algn="ctr"/>
                      <a:r>
                        <a:rPr sz="1100" b="0" i="0">
                          <a:solidFill>
                            <a:srgbClr val="2D2D30"/>
                          </a:solidFill>
                          <a:latin typeface="Meiryo UI"/>
                        </a:rPr>
                        <a:t>50 点 (対数スイープ)</a:t>
                      </a:r>
                    </a:p>
                  </a:txBody>
                  <a:tcPr>
                    <a:solidFill>
                      <a:srgbClr val="EBF0F8"/>
                    </a:solidFill>
                  </a:tcPr>
                </a:tc>
                <a:tc>
                  <a:txBody>
                    <a:bodyPr wrap="square" lIns="73152" rIns="73152" tIns="36576" bIns="36576"/>
                    <a:lstStyle/>
                    <a:p>
                      <a:pPr algn="ctr"/>
                      <a:r>
                        <a:rPr sz="1100" b="0" i="0">
                          <a:solidFill>
                            <a:srgbClr val="2D2D30"/>
                          </a:solidFill>
                          <a:latin typeface="Meiryo UI"/>
                        </a:rPr>
                        <a:t/>
                      </a:r>
                    </a:p>
                  </a:txBody>
                  <a:tcPr>
                    <a:solidFill>
                      <a:srgbClr val="EBF0F8"/>
                    </a:solidFill>
                  </a:tcPr>
                </a:tc>
              </a:tr>
              <a:tr h="457200">
                <a:tc>
                  <a:txBody>
                    <a:bodyPr wrap="square" lIns="73152" rIns="73152" tIns="36576" bIns="36576"/>
                    <a:lstStyle/>
                    <a:p>
                      <a:pPr algn="l"/>
                      <a:r>
                        <a:rPr sz="1100" b="0" i="0">
                          <a:solidFill>
                            <a:srgbClr val="2D2D30"/>
                          </a:solidFill>
                          <a:latin typeface="Meiryo UI"/>
                        </a:rPr>
                        <a:t>加圧条件</a:t>
                      </a:r>
                    </a:p>
                  </a:txBody>
                  <a:tcPr>
                    <a:solidFill>
                      <a:srgbClr val="FFFFFF"/>
                    </a:solidFill>
                  </a:tcPr>
                </a:tc>
                <a:tc>
                  <a:txBody>
                    <a:bodyPr wrap="square" lIns="73152" rIns="73152" tIns="36576" bIns="36576"/>
                    <a:lstStyle/>
                    <a:p>
                      <a:pPr algn="ctr"/>
                      <a:r>
                        <a:rPr sz="1100" b="0" i="0">
                          <a:solidFill>
                            <a:srgbClr val="2D2D30"/>
                          </a:solidFill>
                          <a:latin typeface="Meiryo UI"/>
                        </a:rPr>
                        <a:t>手押し (Manual Press)</a:t>
                      </a:r>
                    </a:p>
                  </a:txBody>
                  <a:tcPr>
                    <a:solidFill>
                      <a:srgbClr val="FFFFFF"/>
                    </a:solidFill>
                  </a:tcPr>
                </a:tc>
                <a:tc>
                  <a:txBody>
                    <a:bodyPr wrap="square" lIns="73152" rIns="73152" tIns="36576" bIns="36576"/>
                    <a:lstStyle/>
                    <a:p>
                      <a:pPr algn="ctr"/>
                      <a:r>
                        <a:rPr sz="1100" b="0" i="0">
                          <a:solidFill>
                            <a:srgbClr val="2D2D30"/>
                          </a:solidFill>
                          <a:latin typeface="Meiryo UI"/>
                        </a:rPr>
                        <a:t>定性的なインピーダンス変化を観測</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実験2：測定結果</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16 / 20</a:t>
            </a:r>
          </a:p>
        </p:txBody>
      </p:sp>
      <p:sp>
        <p:nvSpPr>
          <p:cNvPr id="5" name="TextBox 4"/>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インピーダンス測定結果</a:t>
            </a:r>
          </a:p>
        </p:txBody>
      </p:sp>
      <p:sp>
        <p:nvSpPr>
          <p:cNvPr id="6" name="Rectangle 5"/>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548640" y="1828800"/>
            <a:ext cx="5303520" cy="3383280"/>
          </a:xfrm>
          <a:prstGeom prst="rect">
            <a:avLst/>
          </a:prstGeom>
        </p:spPr>
      </p:pic>
      <p:pic>
        <p:nvPicPr>
          <p:cNvPr id="8" name="Picture 7" descr="image.png"/>
          <p:cNvPicPr>
            <a:picLocks noChangeAspect="1"/>
          </p:cNvPicPr>
          <p:nvPr/>
        </p:nvPicPr>
        <p:blipFill>
          <a:blip r:embed="rId3"/>
          <a:stretch>
            <a:fillRect/>
          </a:stretch>
        </p:blipFill>
        <p:spPr>
          <a:xfrm>
            <a:off x="6126480" y="1828800"/>
            <a:ext cx="5303520" cy="338328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00916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実験2：結果分析</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17 / 20</a:t>
            </a:r>
          </a:p>
        </p:txBody>
      </p:sp>
      <p:sp>
        <p:nvSpPr>
          <p:cNvPr id="5" name="TextBox 4"/>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インピーダンス測定結果の分析</a:t>
            </a:r>
          </a:p>
        </p:txBody>
      </p:sp>
      <p:sp>
        <p:nvSpPr>
          <p:cNvPr id="6" name="Rectangle 5"/>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548640" y="1828800"/>
            <a:ext cx="5303520" cy="3383280"/>
          </a:xfrm>
          <a:prstGeom prst="rect">
            <a:avLst/>
          </a:prstGeom>
        </p:spPr>
      </p:pic>
      <p:pic>
        <p:nvPicPr>
          <p:cNvPr id="8" name="Picture 7" descr="image.png"/>
          <p:cNvPicPr>
            <a:picLocks noChangeAspect="1"/>
          </p:cNvPicPr>
          <p:nvPr/>
        </p:nvPicPr>
        <p:blipFill>
          <a:blip r:embed="rId3"/>
          <a:stretch>
            <a:fillRect/>
          </a:stretch>
        </p:blipFill>
        <p:spPr>
          <a:xfrm>
            <a:off x="6126480" y="1828800"/>
            <a:ext cx="5303520" cy="338328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B45F14"/>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考察2：インピーダンス測定</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18 / 20</a:t>
            </a:r>
          </a:p>
        </p:txBody>
      </p:sp>
      <p:sp>
        <p:nvSpPr>
          <p:cNvPr id="5" name="TextBox 4"/>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インピーダンス測定に関する考察</a:t>
            </a:r>
          </a:p>
        </p:txBody>
      </p:sp>
      <p:sp>
        <p:nvSpPr>
          <p:cNvPr id="6" name="Rectangle 5"/>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737360"/>
            <a:ext cx="11094415" cy="1371600"/>
          </a:xfrm>
          <a:prstGeom prst="roundRect">
            <a:avLst>
              <a:gd name="adj" fmla="val 2000"/>
            </a:avLst>
          </a:prstGeom>
          <a:solidFill>
            <a:srgbClr val="F0F8FF"/>
          </a:solidFill>
          <a:ln w="9525">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874520"/>
            <a:ext cx="1828800" cy="320040"/>
          </a:xfrm>
          <a:prstGeom prst="rect">
            <a:avLst/>
          </a:prstGeom>
          <a:noFill/>
        </p:spPr>
        <p:txBody>
          <a:bodyPr wrap="none">
            <a:spAutoFit/>
          </a:bodyPr>
          <a:lstStyle/>
          <a:p>
            <a:r>
              <a:rPr sz="1400" b="1" i="0">
                <a:solidFill>
                  <a:srgbClr val="0078D4"/>
                </a:solidFill>
                <a:latin typeface="Meiryo UI"/>
              </a:rPr>
              <a:t>◆ 観測結果</a:t>
            </a:r>
          </a:p>
        </p:txBody>
      </p:sp>
      <p:sp>
        <p:nvSpPr>
          <p:cNvPr id="9" name="TextBox 8"/>
          <p:cNvSpPr txBox="1"/>
          <p:nvPr/>
        </p:nvSpPr>
        <p:spPr>
          <a:xfrm>
            <a:off x="822960" y="2194560"/>
            <a:ext cx="10545775" cy="731520"/>
          </a:xfrm>
          <a:prstGeom prst="rect">
            <a:avLst/>
          </a:prstGeom>
          <a:noFill/>
        </p:spPr>
        <p:txBody>
          <a:bodyPr wrap="square">
            <a:spAutoFit/>
          </a:bodyPr>
          <a:lstStyle/>
          <a:p>
            <a:r>
              <a:rPr sz="1500" b="0" i="0">
                <a:solidFill>
                  <a:srgbClr val="2D2D30"/>
                </a:solidFill>
                <a:latin typeface="Meiryo UI"/>
              </a:rPr>
              <a:t>インピーダンスの周波数特性には手で押したときと離したときに変化が見られた。</a:t>
            </a:r>
          </a:p>
        </p:txBody>
      </p:sp>
      <p:sp>
        <p:nvSpPr>
          <p:cNvPr id="10" name="Down Arrow 9"/>
          <p:cNvSpPr/>
          <p:nvPr/>
        </p:nvSpPr>
        <p:spPr>
          <a:xfrm>
            <a:off x="5638647" y="3291840"/>
            <a:ext cx="914400" cy="548640"/>
          </a:xfrm>
          <a:prstGeom prst="downArrow">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4023360"/>
            <a:ext cx="11094415" cy="1645920"/>
          </a:xfrm>
          <a:prstGeom prst="roundRect">
            <a:avLst>
              <a:gd name="adj" fmla="val 2000"/>
            </a:avLst>
          </a:prstGeom>
          <a:solidFill>
            <a:srgbClr val="FFF8F0"/>
          </a:solidFill>
          <a:ln w="9525">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160520"/>
            <a:ext cx="1828800" cy="320040"/>
          </a:xfrm>
          <a:prstGeom prst="rect">
            <a:avLst/>
          </a:prstGeom>
          <a:noFill/>
        </p:spPr>
        <p:txBody>
          <a:bodyPr wrap="none">
            <a:spAutoFit/>
          </a:bodyPr>
          <a:lstStyle/>
          <a:p>
            <a:r>
              <a:rPr sz="1400" b="1" i="0">
                <a:solidFill>
                  <a:srgbClr val="B45F14"/>
                </a:solidFill>
                <a:latin typeface="Meiryo UI"/>
              </a:rPr>
              <a:t>◆ 応用可能性</a:t>
            </a:r>
          </a:p>
        </p:txBody>
      </p:sp>
      <p:sp>
        <p:nvSpPr>
          <p:cNvPr id="13" name="TextBox 12"/>
          <p:cNvSpPr txBox="1"/>
          <p:nvPr/>
        </p:nvSpPr>
        <p:spPr>
          <a:xfrm>
            <a:off x="822960" y="4526280"/>
            <a:ext cx="10545775" cy="914400"/>
          </a:xfrm>
          <a:prstGeom prst="rect">
            <a:avLst/>
          </a:prstGeom>
          <a:noFill/>
        </p:spPr>
        <p:txBody>
          <a:bodyPr wrap="square">
            <a:spAutoFit/>
          </a:bodyPr>
          <a:lstStyle/>
          <a:p>
            <a:r>
              <a:rPr sz="1500" b="0" i="0">
                <a:solidFill>
                  <a:srgbClr val="2D2D30"/>
                </a:solidFill>
                <a:latin typeface="Meiryo UI"/>
              </a:rPr>
              <a:t>インピーダンスの周波数特性の差分を測定し、分析・機械学習させることによって圧力センサーやタッチセンサーとして活用可能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今後の展望</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19 / 20</a:t>
            </a:r>
          </a:p>
        </p:txBody>
      </p:sp>
      <p:sp>
        <p:nvSpPr>
          <p:cNvPr id="5" name="TextBox 4"/>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今後の研究展望</a:t>
            </a:r>
          </a:p>
        </p:txBody>
      </p:sp>
      <p:sp>
        <p:nvSpPr>
          <p:cNvPr id="6" name="Rectangle 5"/>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783080"/>
            <a:ext cx="411480" cy="411480"/>
          </a:xfrm>
          <a:prstGeom prst="ellipse">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Segoe UI"/>
              </a:rPr>
              <a:t>1</a:t>
            </a:r>
          </a:p>
        </p:txBody>
      </p:sp>
      <p:sp>
        <p:nvSpPr>
          <p:cNvPr id="8" name="TextBox 7"/>
          <p:cNvSpPr txBox="1"/>
          <p:nvPr/>
        </p:nvSpPr>
        <p:spPr>
          <a:xfrm>
            <a:off x="1143000" y="1691640"/>
            <a:ext cx="10500055" cy="1188720"/>
          </a:xfrm>
          <a:prstGeom prst="rect">
            <a:avLst/>
          </a:prstGeom>
          <a:noFill/>
        </p:spPr>
        <p:txBody>
          <a:bodyPr wrap="square">
            <a:spAutoFit/>
          </a:bodyPr>
          <a:lstStyle/>
          <a:p>
            <a:pPr>
              <a:lnSpc>
                <a:spcPts val="2200"/>
              </a:lnSpc>
            </a:pPr>
            <a:r>
              <a:rPr sz="1400" b="0" i="0">
                <a:solidFill>
                  <a:srgbClr val="2D2D30"/>
                </a:solidFill>
                <a:latin typeface="Meiryo UI"/>
              </a:rPr>
              <a:t>今回実験した範囲内では、モノマーの濃度が大きくなるほどゲルの強度（引張試験）が上昇したが、より大きなスケールでモノマーの濃度を変化させ、どの範囲までこの傾向が続くかを調査してみたい。</a:t>
            </a:r>
          </a:p>
        </p:txBody>
      </p:sp>
      <p:sp>
        <p:nvSpPr>
          <p:cNvPr id="9" name="Oval 8"/>
          <p:cNvSpPr/>
          <p:nvPr/>
        </p:nvSpPr>
        <p:spPr>
          <a:xfrm>
            <a:off x="548640" y="3246120"/>
            <a:ext cx="411480" cy="411480"/>
          </a:xfrm>
          <a:prstGeom prst="ellipse">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Segoe UI"/>
              </a:rPr>
              <a:t>2</a:t>
            </a:r>
          </a:p>
        </p:txBody>
      </p:sp>
      <p:sp>
        <p:nvSpPr>
          <p:cNvPr id="10" name="TextBox 9"/>
          <p:cNvSpPr txBox="1"/>
          <p:nvPr/>
        </p:nvSpPr>
        <p:spPr>
          <a:xfrm>
            <a:off x="1143000" y="3154680"/>
            <a:ext cx="10500055" cy="1188720"/>
          </a:xfrm>
          <a:prstGeom prst="rect">
            <a:avLst/>
          </a:prstGeom>
          <a:noFill/>
        </p:spPr>
        <p:txBody>
          <a:bodyPr wrap="square">
            <a:spAutoFit/>
          </a:bodyPr>
          <a:lstStyle/>
          <a:p>
            <a:pPr>
              <a:lnSpc>
                <a:spcPts val="2200"/>
              </a:lnSpc>
            </a:pPr>
            <a:r>
              <a:rPr sz="1400" b="0" i="0">
                <a:solidFill>
                  <a:srgbClr val="2D2D30"/>
                </a:solidFill>
                <a:latin typeface="Meiryo UI"/>
              </a:rPr>
              <a:t>実験2と同じ形式で、ゲルの濃度を変化させた際、結果がどのように変化するか調査することも、今後の課題として挙げられる。</a:t>
            </a:r>
          </a:p>
        </p:txBody>
      </p:sp>
      <p:sp>
        <p:nvSpPr>
          <p:cNvPr id="11" name="Oval 10"/>
          <p:cNvSpPr/>
          <p:nvPr/>
        </p:nvSpPr>
        <p:spPr>
          <a:xfrm>
            <a:off x="548640" y="4709160"/>
            <a:ext cx="411480" cy="411480"/>
          </a:xfrm>
          <a:prstGeom prst="ellipse">
            <a:avLst/>
          </a:prstGeom>
          <a:solidFill>
            <a:srgbClr val="823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FFFFF"/>
                </a:solidFill>
                <a:latin typeface="Segoe UI"/>
              </a:rPr>
              <a:t>3</a:t>
            </a:r>
          </a:p>
        </p:txBody>
      </p:sp>
      <p:sp>
        <p:nvSpPr>
          <p:cNvPr id="12" name="TextBox 11"/>
          <p:cNvSpPr txBox="1"/>
          <p:nvPr/>
        </p:nvSpPr>
        <p:spPr>
          <a:xfrm>
            <a:off x="1143000" y="4617720"/>
            <a:ext cx="10500055" cy="1188720"/>
          </a:xfrm>
          <a:prstGeom prst="rect">
            <a:avLst/>
          </a:prstGeom>
          <a:noFill/>
        </p:spPr>
        <p:txBody>
          <a:bodyPr wrap="square">
            <a:spAutoFit/>
          </a:bodyPr>
          <a:lstStyle/>
          <a:p>
            <a:pPr>
              <a:lnSpc>
                <a:spcPts val="2200"/>
              </a:lnSpc>
            </a:pPr>
            <a:r>
              <a:rPr sz="1400" b="0" i="0">
                <a:solidFill>
                  <a:srgbClr val="2D2D30"/>
                </a:solidFill>
                <a:latin typeface="Meiryo UI"/>
              </a:rPr>
              <a:t>今回の実験だけでは、ソフトマターセンサーの応用に関するゲルの特性について十分には調べきれていないので、より多角的に、形状、特殊な形状にしたときの電気的応答性、ゲル、接点間距離などについて調査が必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505055"/>
          </a:solidFill>
          <a:ln>
            <a:noFill/>
          </a:ln>
        </p:spPr>
        <p:style>
          <a:lnRef idx="1">
            <a:schemeClr val="accent1"/>
          </a:lnRef>
          <a:fillRef idx="3">
            <a:schemeClr val="accent1"/>
          </a:fillRef>
          <a:effectRef idx="2">
            <a:schemeClr val="accent1"/>
          </a:effectRef>
          <a:fontRef idx="minor">
            <a:schemeClr val="lt1"/>
          </a:fontRef>
        </p:style>
        <p:txBody>
          <a:bodyPr rtlCol="0" anchor="ctr" wrap="square" lIns="640080"/>
          <a:lstStyle/>
          <a:p>
            <a:pPr algn="l"/>
            <a:r>
              <a:rPr sz="2600" b="1" i="0">
                <a:solidFill>
                  <a:srgbClr val="FFFFFF"/>
                </a:solidFill>
                <a:latin typeface="Meiryo UI"/>
              </a:rPr>
              <a:t>参考文献</a:t>
            </a:r>
          </a:p>
        </p:txBody>
      </p:sp>
      <p:sp>
        <p:nvSpPr>
          <p:cNvPr id="3" name="Rectangle 2"/>
          <p:cNvSpPr/>
          <p:nvPr/>
        </p:nvSpPr>
        <p:spPr>
          <a:xfrm>
            <a:off x="0" y="777240"/>
            <a:ext cx="12191695" cy="36576"/>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94415" y="6492240"/>
            <a:ext cx="914400" cy="274320"/>
          </a:xfrm>
          <a:prstGeom prst="rect">
            <a:avLst/>
          </a:prstGeom>
          <a:noFill/>
        </p:spPr>
        <p:txBody>
          <a:bodyPr wrap="none">
            <a:spAutoFit/>
          </a:bodyPr>
          <a:lstStyle/>
          <a:p>
            <a:pPr algn="r"/>
            <a:r>
              <a:rPr sz="1000" b="0" i="0">
                <a:solidFill>
                  <a:srgbClr val="646469"/>
                </a:solidFill>
                <a:latin typeface="Segoe UI"/>
              </a:rPr>
              <a:t>20 / 20</a:t>
            </a:r>
          </a:p>
        </p:txBody>
      </p:sp>
      <p:sp>
        <p:nvSpPr>
          <p:cNvPr id="5" name="TextBox 4"/>
          <p:cNvSpPr txBox="1"/>
          <p:nvPr/>
        </p:nvSpPr>
        <p:spPr>
          <a:xfrm>
            <a:off x="548640" y="1005840"/>
            <a:ext cx="11094415" cy="548640"/>
          </a:xfrm>
          <a:prstGeom prst="rect">
            <a:avLst/>
          </a:prstGeom>
          <a:noFill/>
        </p:spPr>
        <p:txBody>
          <a:bodyPr wrap="square">
            <a:spAutoFit/>
          </a:bodyPr>
          <a:lstStyle/>
          <a:p>
            <a:pPr algn="l"/>
            <a:r>
              <a:rPr sz="3000" b="1" i="0">
                <a:solidFill>
                  <a:srgbClr val="2D2D30"/>
                </a:solidFill>
                <a:latin typeface="Meiryo UI"/>
              </a:rPr>
              <a:t>参考文献</a:t>
            </a:r>
          </a:p>
        </p:txBody>
      </p:sp>
      <p:sp>
        <p:nvSpPr>
          <p:cNvPr id="6" name="Rectangle 5"/>
          <p:cNvSpPr/>
          <p:nvPr/>
        </p:nvSpPr>
        <p:spPr>
          <a:xfrm>
            <a:off x="548640" y="1508760"/>
            <a:ext cx="2286000" cy="320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645920"/>
            <a:ext cx="457200" cy="274320"/>
          </a:xfrm>
          <a:prstGeom prst="rect">
            <a:avLst/>
          </a:prstGeom>
          <a:noFill/>
        </p:spPr>
        <p:txBody>
          <a:bodyPr wrap="none">
            <a:spAutoFit/>
          </a:bodyPr>
          <a:lstStyle/>
          <a:p>
            <a:r>
              <a:rPr sz="1200" b="1" i="0">
                <a:solidFill>
                  <a:srgbClr val="19376D"/>
                </a:solidFill>
                <a:latin typeface="Segoe UI"/>
              </a:rPr>
              <a:t>[0]</a:t>
            </a:r>
          </a:p>
        </p:txBody>
      </p:sp>
      <p:sp>
        <p:nvSpPr>
          <p:cNvPr id="8" name="TextBox 7"/>
          <p:cNvSpPr txBox="1"/>
          <p:nvPr/>
        </p:nvSpPr>
        <p:spPr>
          <a:xfrm>
            <a:off x="1005840" y="1645920"/>
            <a:ext cx="10637215" cy="731520"/>
          </a:xfrm>
          <a:prstGeom prst="rect">
            <a:avLst/>
          </a:prstGeom>
          <a:noFill/>
        </p:spPr>
        <p:txBody>
          <a:bodyPr wrap="square">
            <a:spAutoFit/>
          </a:bodyPr>
          <a:lstStyle/>
          <a:p>
            <a:pPr>
              <a:lnSpc>
                <a:spcPts val="1800"/>
              </a:lnSpc>
            </a:pPr>
            <a:r>
              <a:rPr sz="1100" b="0" i="0">
                <a:solidFill>
                  <a:srgbClr val="2D2D30"/>
                </a:solidFill>
                <a:latin typeface="Meiryo UI"/>
              </a:rPr>
              <a:t>CHEMFISH「イオン液体ゲルの高感度圧力センサー」
https://www.chemfish.co.jp/index.php?id=3890</a:t>
            </a:r>
          </a:p>
        </p:txBody>
      </p:sp>
      <p:sp>
        <p:nvSpPr>
          <p:cNvPr id="9" name="TextBox 8"/>
          <p:cNvSpPr txBox="1"/>
          <p:nvPr/>
        </p:nvSpPr>
        <p:spPr>
          <a:xfrm>
            <a:off x="548640" y="2468880"/>
            <a:ext cx="457200" cy="274320"/>
          </a:xfrm>
          <a:prstGeom prst="rect">
            <a:avLst/>
          </a:prstGeom>
          <a:noFill/>
        </p:spPr>
        <p:txBody>
          <a:bodyPr wrap="none">
            <a:spAutoFit/>
          </a:bodyPr>
          <a:lstStyle/>
          <a:p>
            <a:r>
              <a:rPr sz="1200" b="1" i="0">
                <a:solidFill>
                  <a:srgbClr val="19376D"/>
                </a:solidFill>
                <a:latin typeface="Segoe UI"/>
              </a:rPr>
              <a:t>[1]</a:t>
            </a:r>
          </a:p>
        </p:txBody>
      </p:sp>
      <p:sp>
        <p:nvSpPr>
          <p:cNvPr id="10" name="TextBox 9"/>
          <p:cNvSpPr txBox="1"/>
          <p:nvPr/>
        </p:nvSpPr>
        <p:spPr>
          <a:xfrm>
            <a:off x="1005840" y="2468880"/>
            <a:ext cx="10637215" cy="731520"/>
          </a:xfrm>
          <a:prstGeom prst="rect">
            <a:avLst/>
          </a:prstGeom>
          <a:noFill/>
        </p:spPr>
        <p:txBody>
          <a:bodyPr wrap="square">
            <a:spAutoFit/>
          </a:bodyPr>
          <a:lstStyle/>
          <a:p>
            <a:pPr>
              <a:lnSpc>
                <a:spcPts val="1800"/>
              </a:lnSpc>
            </a:pPr>
            <a:r>
              <a:rPr sz="1100" b="0" i="0">
                <a:solidFill>
                  <a:srgbClr val="2D2D30"/>
                </a:solidFill>
                <a:latin typeface="Meiryo UI"/>
              </a:rPr>
              <a:t>Cica-Web「1-ブチル-3-メチルイミダゾリウムビス(フルオロスルホニル)イミド」
https://cica-web.kanto.co.jp/CicaWeb/servlet/wsj.front.LogonSvlt?ReqItem=05816-35</a:t>
            </a:r>
          </a:p>
        </p:txBody>
      </p:sp>
      <p:sp>
        <p:nvSpPr>
          <p:cNvPr id="11" name="TextBox 10"/>
          <p:cNvSpPr txBox="1"/>
          <p:nvPr/>
        </p:nvSpPr>
        <p:spPr>
          <a:xfrm>
            <a:off x="548640" y="3291840"/>
            <a:ext cx="457200" cy="274320"/>
          </a:xfrm>
          <a:prstGeom prst="rect">
            <a:avLst/>
          </a:prstGeom>
          <a:noFill/>
        </p:spPr>
        <p:txBody>
          <a:bodyPr wrap="none">
            <a:spAutoFit/>
          </a:bodyPr>
          <a:lstStyle/>
          <a:p>
            <a:r>
              <a:rPr sz="1200" b="1" i="0">
                <a:solidFill>
                  <a:srgbClr val="19376D"/>
                </a:solidFill>
                <a:latin typeface="Segoe UI"/>
              </a:rPr>
              <a:t>[2]</a:t>
            </a:r>
          </a:p>
        </p:txBody>
      </p:sp>
      <p:sp>
        <p:nvSpPr>
          <p:cNvPr id="12" name="TextBox 11"/>
          <p:cNvSpPr txBox="1"/>
          <p:nvPr/>
        </p:nvSpPr>
        <p:spPr>
          <a:xfrm>
            <a:off x="1005840" y="3291840"/>
            <a:ext cx="10637215" cy="731520"/>
          </a:xfrm>
          <a:prstGeom prst="rect">
            <a:avLst/>
          </a:prstGeom>
          <a:noFill/>
        </p:spPr>
        <p:txBody>
          <a:bodyPr wrap="square">
            <a:spAutoFit/>
          </a:bodyPr>
          <a:lstStyle/>
          <a:p>
            <a:pPr>
              <a:lnSpc>
                <a:spcPts val="1800"/>
              </a:lnSpc>
            </a:pPr>
            <a:r>
              <a:rPr sz="1100" b="0" i="0">
                <a:solidFill>
                  <a:srgbClr val="2D2D30"/>
                </a:solidFill>
                <a:latin typeface="Meiryo UI"/>
              </a:rPr>
              <a:t>FUJIFILM「N,N-ジメチルアクリルアミド」
https://labchem-wako.fujifilm.com/jp/product/detail/W01W0104-1918.html</a:t>
            </a:r>
          </a:p>
        </p:txBody>
      </p:sp>
      <p:sp>
        <p:nvSpPr>
          <p:cNvPr id="13" name="TextBox 12"/>
          <p:cNvSpPr txBox="1"/>
          <p:nvPr/>
        </p:nvSpPr>
        <p:spPr>
          <a:xfrm>
            <a:off x="548640" y="4114800"/>
            <a:ext cx="457200" cy="274320"/>
          </a:xfrm>
          <a:prstGeom prst="rect">
            <a:avLst/>
          </a:prstGeom>
          <a:noFill/>
        </p:spPr>
        <p:txBody>
          <a:bodyPr wrap="none">
            <a:spAutoFit/>
          </a:bodyPr>
          <a:lstStyle/>
          <a:p>
            <a:r>
              <a:rPr sz="1200" b="1" i="0">
                <a:solidFill>
                  <a:srgbClr val="19376D"/>
                </a:solidFill>
                <a:latin typeface="Segoe UI"/>
              </a:rPr>
              <a:t>[3]</a:t>
            </a:r>
          </a:p>
        </p:txBody>
      </p:sp>
      <p:sp>
        <p:nvSpPr>
          <p:cNvPr id="14" name="TextBox 13"/>
          <p:cNvSpPr txBox="1"/>
          <p:nvPr/>
        </p:nvSpPr>
        <p:spPr>
          <a:xfrm>
            <a:off x="1005840" y="4114800"/>
            <a:ext cx="10637215" cy="731520"/>
          </a:xfrm>
          <a:prstGeom prst="rect">
            <a:avLst/>
          </a:prstGeom>
          <a:noFill/>
        </p:spPr>
        <p:txBody>
          <a:bodyPr wrap="square">
            <a:spAutoFit/>
          </a:bodyPr>
          <a:lstStyle/>
          <a:p>
            <a:pPr>
              <a:lnSpc>
                <a:spcPts val="1800"/>
              </a:lnSpc>
            </a:pPr>
            <a:r>
              <a:rPr sz="1100" b="0" i="0">
                <a:solidFill>
                  <a:srgbClr val="2D2D30"/>
                </a:solidFill>
                <a:latin typeface="Meiryo UI"/>
              </a:rPr>
              <a:t>MilliporeSigma「α-ケトグルタル酸」
https://www.sigmaaldrich.com/JP/ja/product/sigma/k1750</a:t>
            </a:r>
          </a:p>
        </p:txBody>
      </p:sp>
      <p:sp>
        <p:nvSpPr>
          <p:cNvPr id="15" name="TextBox 14"/>
          <p:cNvSpPr txBox="1"/>
          <p:nvPr/>
        </p:nvSpPr>
        <p:spPr>
          <a:xfrm>
            <a:off x="548640" y="4937760"/>
            <a:ext cx="457200" cy="274320"/>
          </a:xfrm>
          <a:prstGeom prst="rect">
            <a:avLst/>
          </a:prstGeom>
          <a:noFill/>
        </p:spPr>
        <p:txBody>
          <a:bodyPr wrap="none">
            <a:spAutoFit/>
          </a:bodyPr>
          <a:lstStyle/>
          <a:p>
            <a:r>
              <a:rPr sz="1200" b="1" i="0">
                <a:solidFill>
                  <a:srgbClr val="19376D"/>
                </a:solidFill>
                <a:latin typeface="Segoe UI"/>
              </a:rPr>
              <a:t>[4]</a:t>
            </a:r>
          </a:p>
        </p:txBody>
      </p:sp>
      <p:sp>
        <p:nvSpPr>
          <p:cNvPr id="16" name="TextBox 15"/>
          <p:cNvSpPr txBox="1"/>
          <p:nvPr/>
        </p:nvSpPr>
        <p:spPr>
          <a:xfrm>
            <a:off x="1005840" y="4937760"/>
            <a:ext cx="10637215" cy="731520"/>
          </a:xfrm>
          <a:prstGeom prst="rect">
            <a:avLst/>
          </a:prstGeom>
          <a:noFill/>
        </p:spPr>
        <p:txBody>
          <a:bodyPr wrap="square">
            <a:spAutoFit/>
          </a:bodyPr>
          <a:lstStyle/>
          <a:p>
            <a:pPr>
              <a:lnSpc>
                <a:spcPts val="1800"/>
              </a:lnSpc>
            </a:pPr>
            <a:r>
              <a:rPr sz="1100" b="0" i="0">
                <a:solidFill>
                  <a:srgbClr val="2D2D30"/>
                </a:solidFill>
                <a:latin typeface="Meiryo UI"/>
              </a:rPr>
              <a:t>TCI「N,N'-Methylenebisacrylamide」
https://www.tcichemicals.com/JP/ja/p/M0506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