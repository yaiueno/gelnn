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77"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56" y="6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376D"/>
        </a:solidFill>
        <a:effectLst/>
      </p:bgPr>
    </p:bg>
    <p:spTree>
      <p:nvGrpSpPr>
        <p:cNvPr id="1" name=""/>
        <p:cNvGrpSpPr/>
        <p:nvPr/>
      </p:nvGrpSpPr>
      <p:grpSpPr>
        <a:xfrm>
          <a:off x="0" y="0"/>
          <a:ext cx="0" cy="0"/>
          <a:chOff x="0" y="0"/>
          <a:chExt cx="0" cy="0"/>
        </a:xfrm>
      </p:grpSpPr>
      <p:sp>
        <p:nvSpPr>
          <p:cNvPr id="2" name="Oval 1"/>
          <p:cNvSpPr/>
          <p:nvPr/>
        </p:nvSpPr>
        <p:spPr>
          <a:xfrm>
            <a:off x="8534095" y="3200400"/>
            <a:ext cx="5486400" cy="5486400"/>
          </a:xfrm>
          <a:prstGeom prst="ellipse">
            <a:avLst/>
          </a:prstGeom>
          <a:solidFill>
            <a:srgbClr val="1E41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0" y="-1371600"/>
            <a:ext cx="3657600" cy="3657600"/>
          </a:xfrm>
          <a:prstGeom prst="ellipse">
            <a:avLst/>
          </a:prstGeom>
          <a:solidFill>
            <a:srgbClr val="1432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097280" y="2834640"/>
            <a:ext cx="2743200" cy="4572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1371600"/>
            <a:ext cx="9144000" cy="1371600"/>
          </a:xfrm>
          <a:prstGeom prst="rect">
            <a:avLst/>
          </a:prstGeom>
          <a:noFill/>
        </p:spPr>
        <p:txBody>
          <a:bodyPr wrap="square">
            <a:spAutoFit/>
          </a:bodyPr>
          <a:lstStyle/>
          <a:p>
            <a:pPr algn="l"/>
            <a:r>
              <a:rPr sz="4400" b="1" i="0">
                <a:solidFill>
                  <a:srgbClr val="FFFFFF"/>
                </a:solidFill>
                <a:latin typeface="Meiryo UI"/>
              </a:rPr>
              <a:t>イオン液体で作成した</a:t>
            </a:r>
          </a:p>
          <a:p>
            <a:pPr algn="l"/>
            <a:r>
              <a:rPr sz="5200" b="1" i="0">
                <a:solidFill>
                  <a:srgbClr val="00A4EF"/>
                </a:solidFill>
                <a:latin typeface="Meiryo UI"/>
              </a:rPr>
              <a:t>DMAAmゲル</a:t>
            </a:r>
          </a:p>
        </p:txBody>
      </p:sp>
      <p:sp>
        <p:nvSpPr>
          <p:cNvPr id="6" name="TextBox 5"/>
          <p:cNvSpPr txBox="1"/>
          <p:nvPr/>
        </p:nvSpPr>
        <p:spPr>
          <a:xfrm>
            <a:off x="1097280" y="3108960"/>
            <a:ext cx="9386422" cy="766492"/>
          </a:xfrm>
          <a:prstGeom prst="rect">
            <a:avLst/>
          </a:prstGeom>
          <a:noFill/>
        </p:spPr>
        <p:txBody>
          <a:bodyPr wrap="square">
            <a:spAutoFit/>
          </a:bodyPr>
          <a:lstStyle/>
          <a:p>
            <a:pPr algn="l">
              <a:lnSpc>
                <a:spcPts val="2800"/>
              </a:lnSpc>
            </a:pPr>
            <a:r>
              <a:rPr sz="1800" b="0" i="0" dirty="0" err="1">
                <a:solidFill>
                  <a:srgbClr val="B4C8E6"/>
                </a:solidFill>
                <a:latin typeface="Meiryo UI"/>
              </a:rPr>
              <a:t>ソフトマターセンサー材料としての機械特性・電気特性の評価</a:t>
            </a:r>
            <a:endParaRPr lang="en-US" sz="1800" b="0" i="0" dirty="0">
              <a:solidFill>
                <a:srgbClr val="B4C8E6"/>
              </a:solidFill>
              <a:latin typeface="Meiryo UI"/>
            </a:endParaRPr>
          </a:p>
          <a:p>
            <a:pPr algn="l">
              <a:lnSpc>
                <a:spcPts val="2800"/>
              </a:lnSpc>
            </a:pPr>
            <a:r>
              <a:rPr lang="ja-JP" altLang="en-US" dirty="0">
                <a:solidFill>
                  <a:srgbClr val="B4C8E6"/>
                </a:solidFill>
                <a:latin typeface="Meiryo UI"/>
              </a:rPr>
              <a:t>山形大学工学部システム創成工学科　錦織 巧承 上野能登　加藤寛人</a:t>
            </a:r>
            <a:endParaRPr sz="1800" b="0" i="0" dirty="0">
              <a:solidFill>
                <a:srgbClr val="B4C8E6"/>
              </a:solidFill>
              <a:latin typeface="Meiryo UI"/>
            </a:endParaRPr>
          </a:p>
        </p:txBody>
      </p:sp>
      <p:sp>
        <p:nvSpPr>
          <p:cNvPr id="7" name="TextBox 6"/>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1 / 22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9376D"/>
          </a:solidFill>
          <a:ln>
            <a:noFill/>
          </a:ln>
        </p:spPr>
        <p:style>
          <a:lnRef idx="1">
            <a:schemeClr val="accent1"/>
          </a:lnRef>
          <a:fillRef idx="3">
            <a:schemeClr val="accent1"/>
          </a:fillRef>
          <a:effectRef idx="2">
            <a:schemeClr val="accent1"/>
          </a:effectRef>
          <a:fontRef idx="minor">
            <a:schemeClr val="lt1"/>
          </a:fontRef>
        </p:style>
        <p:txBody>
          <a:bodyPr wrap="square" lIns="640080" rtlCol="0" anchor="ctr"/>
          <a:lstStyle/>
          <a:p>
            <a:pPr algn="l"/>
            <a:r>
              <a:rPr sz="2600" b="1" i="0">
                <a:solidFill>
                  <a:srgbClr val="FFFFFF"/>
                </a:solidFill>
                <a:latin typeface="Meiryo UI"/>
              </a:rPr>
              <a:t>実験の背景</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97280"/>
            <a:ext cx="11094415" cy="5394960"/>
          </a:xfrm>
          <a:prstGeom prst="rect">
            <a:avLst/>
          </a:prstGeom>
          <a:noFill/>
        </p:spPr>
        <p:txBody>
          <a:bodyPr wrap="square">
            <a:spAutoFit/>
          </a:bodyPr>
          <a:lstStyle/>
          <a:p>
            <a:pPr>
              <a:lnSpc>
                <a:spcPts val="2400"/>
              </a:lnSpc>
              <a:spcBef>
                <a:spcPts val="0"/>
              </a:spcBef>
              <a:spcAft>
                <a:spcPts val="600"/>
              </a:spcAft>
            </a:pPr>
            <a:r>
              <a:rPr sz="1600" b="1" i="0">
                <a:solidFill>
                  <a:srgbClr val="19376D"/>
                </a:solidFill>
                <a:latin typeface="Meiryo UI"/>
              </a:rPr>
              <a:t>1. 背景</a:t>
            </a:r>
          </a:p>
          <a:p>
            <a:pPr>
              <a:lnSpc>
                <a:spcPts val="2380"/>
              </a:lnSpc>
              <a:spcBef>
                <a:spcPts val="300"/>
              </a:spcBef>
              <a:spcAft>
                <a:spcPts val="300"/>
              </a:spcAft>
            </a:pPr>
            <a:r>
              <a:rPr sz="1400" b="0" i="0">
                <a:solidFill>
                  <a:srgbClr val="2D2D30"/>
                </a:solidFill>
                <a:latin typeface="Meiryo UI"/>
              </a:rPr>
              <a:t>ソフトマターセンサーは、ウェアラブルデバイスや生体計測などの医療分野に加え、ロボット分野への応用においても高い需要がある。これらの用途では、柔軟性と変形追従性を兼ね備えた材料が求められる。その候補材料としてゲルに着目した。</a:t>
            </a:r>
          </a:p>
          <a:p>
            <a:pPr>
              <a:lnSpc>
                <a:spcPts val="2380"/>
              </a:lnSpc>
              <a:spcBef>
                <a:spcPts val="300"/>
              </a:spcBef>
              <a:spcAft>
                <a:spcPts val="300"/>
              </a:spcAft>
            </a:pPr>
            <a:r>
              <a:rPr sz="1400" b="0" i="0">
                <a:solidFill>
                  <a:srgbClr val="2D2D30"/>
                </a:solidFill>
                <a:latin typeface="Meiryo UI"/>
              </a:rPr>
              <a:t>イオン液体そのものをセンサー材料とする手法も報告[0]されているが、液体であるため取り扱いや形状保持に課題がある。一方、イオン液体をゲル化することで、固体として扱うことが可能となり、柔軟性と安定性の両立が期待される。</a:t>
            </a:r>
          </a:p>
          <a:p>
            <a:pPr>
              <a:lnSpc>
                <a:spcPts val="2400"/>
              </a:lnSpc>
              <a:spcBef>
                <a:spcPts val="1400"/>
              </a:spcBef>
              <a:spcAft>
                <a:spcPts val="600"/>
              </a:spcAft>
            </a:pPr>
            <a:r>
              <a:rPr sz="1600" b="1" i="0">
                <a:solidFill>
                  <a:srgbClr val="19376D"/>
                </a:solidFill>
                <a:latin typeface="Meiryo UI"/>
              </a:rPr>
              <a:t>2. 目的</a:t>
            </a:r>
          </a:p>
          <a:p>
            <a:pPr>
              <a:lnSpc>
                <a:spcPts val="2380"/>
              </a:lnSpc>
              <a:spcBef>
                <a:spcPts val="300"/>
              </a:spcBef>
              <a:spcAft>
                <a:spcPts val="300"/>
              </a:spcAft>
            </a:pPr>
            <a:r>
              <a:rPr sz="1400" b="0" i="0">
                <a:solidFill>
                  <a:srgbClr val="2D2D30"/>
                </a:solidFill>
                <a:latin typeface="Meiryo UI"/>
              </a:rPr>
              <a:t>ソフトマターセンサー材料には、使用時の変形に耐える十分な機械的強度、変形を検出可能な電気的応答性が求められる。本研究では、イオン液体を含有させたN,N-ジメチルアクリルアミド（DMAAm）ゲルについて、機械特性（引張特性）、電気特性（インピーダンス特性）を評価し、ソフトマターセンサー材料としての適性を検討することを目的とする。</a:t>
            </a:r>
          </a:p>
        </p:txBody>
      </p:sp>
      <p:sp>
        <p:nvSpPr>
          <p:cNvPr id="5" name="TextBox 4"/>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2 / 22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325A8C"/>
          </a:solidFill>
          <a:ln>
            <a:noFill/>
          </a:ln>
        </p:spPr>
        <p:style>
          <a:lnRef idx="1">
            <a:schemeClr val="accent1"/>
          </a:lnRef>
          <a:fillRef idx="3">
            <a:schemeClr val="accent1"/>
          </a:fillRef>
          <a:effectRef idx="2">
            <a:schemeClr val="accent1"/>
          </a:effectRef>
          <a:fontRef idx="minor">
            <a:schemeClr val="lt1"/>
          </a:fontRef>
        </p:style>
        <p:txBody>
          <a:bodyPr wrap="square" lIns="640080" rtlCol="0" anchor="ctr"/>
          <a:lstStyle/>
          <a:p>
            <a:pPr algn="l"/>
            <a:r>
              <a:rPr sz="2600" b="1" i="0">
                <a:solidFill>
                  <a:srgbClr val="FFFFFF"/>
                </a:solidFill>
                <a:latin typeface="Meiryo UI"/>
              </a:rPr>
              <a:t>実験の経緯</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97280"/>
            <a:ext cx="11094415" cy="5394960"/>
          </a:xfrm>
          <a:prstGeom prst="rect">
            <a:avLst/>
          </a:prstGeom>
          <a:noFill/>
        </p:spPr>
        <p:txBody>
          <a:bodyPr wrap="square">
            <a:spAutoFit/>
          </a:bodyPr>
          <a:lstStyle/>
          <a:p>
            <a:pPr>
              <a:lnSpc>
                <a:spcPts val="2400"/>
              </a:lnSpc>
              <a:spcBef>
                <a:spcPts val="0"/>
              </a:spcBef>
              <a:spcAft>
                <a:spcPts val="600"/>
              </a:spcAft>
            </a:pPr>
            <a:r>
              <a:rPr sz="1600" b="1" i="0">
                <a:solidFill>
                  <a:srgbClr val="19376D"/>
                </a:solidFill>
                <a:latin typeface="Meiryo UI"/>
              </a:rPr>
              <a:t>1. 当初の計画概要</a:t>
            </a:r>
          </a:p>
          <a:p>
            <a:pPr>
              <a:lnSpc>
                <a:spcPts val="2380"/>
              </a:lnSpc>
              <a:spcBef>
                <a:spcPts val="300"/>
              </a:spcBef>
              <a:spcAft>
                <a:spcPts val="300"/>
              </a:spcAft>
            </a:pPr>
            <a:r>
              <a:rPr sz="1400" b="0" i="0">
                <a:solidFill>
                  <a:srgbClr val="2D2D30"/>
                </a:solidFill>
                <a:latin typeface="Meiryo UI"/>
              </a:rPr>
              <a:t>今回扱う材料の候補として、DNゲル（ダブルネットワークゲル）、ひも状ミセルなどが他にあった。作業人数やテーマに関する観点から、DNゲルとN,N-ジメチルアクリルアミド（DMAAm）ゲルを選択した。二つのグループに分かれて作業し、本グループはN,N-ジメチルアクリルアミド（DMAAm）ゲルを担当した。</a:t>
            </a:r>
          </a:p>
          <a:p>
            <a:pPr>
              <a:lnSpc>
                <a:spcPts val="2400"/>
              </a:lnSpc>
              <a:spcBef>
                <a:spcPts val="1400"/>
              </a:spcBef>
              <a:spcAft>
                <a:spcPts val="600"/>
              </a:spcAft>
            </a:pPr>
            <a:r>
              <a:rPr sz="1600" b="1" i="0">
                <a:solidFill>
                  <a:srgbClr val="19376D"/>
                </a:solidFill>
                <a:latin typeface="Meiryo UI"/>
              </a:rPr>
              <a:t>2. 当初の実験計画</a:t>
            </a:r>
          </a:p>
          <a:p>
            <a:pPr>
              <a:lnSpc>
                <a:spcPts val="2380"/>
              </a:lnSpc>
              <a:spcBef>
                <a:spcPts val="300"/>
              </a:spcBef>
              <a:spcAft>
                <a:spcPts val="300"/>
              </a:spcAft>
            </a:pPr>
            <a:r>
              <a:rPr sz="1400" b="0" i="0">
                <a:solidFill>
                  <a:srgbClr val="2D2D30"/>
                </a:solidFill>
                <a:latin typeface="Meiryo UI"/>
              </a:rPr>
              <a:t>以下の２点を想定していた。</a:t>
            </a:r>
          </a:p>
          <a:p>
            <a:pPr>
              <a:lnSpc>
                <a:spcPts val="2380"/>
              </a:lnSpc>
              <a:spcBef>
                <a:spcPts val="400"/>
              </a:spcBef>
              <a:spcAft>
                <a:spcPts val="400"/>
              </a:spcAft>
            </a:pPr>
            <a:r>
              <a:rPr sz="1400" b="0" i="0">
                <a:solidFill>
                  <a:srgbClr val="2D2D30"/>
                </a:solidFill>
                <a:latin typeface="Meiryo UI"/>
              </a:rPr>
              <a:t>  •  (i) フォーステスターを使用した引張試験</a:t>
            </a:r>
          </a:p>
          <a:p>
            <a:pPr>
              <a:lnSpc>
                <a:spcPts val="2380"/>
              </a:lnSpc>
              <a:spcBef>
                <a:spcPts val="400"/>
              </a:spcBef>
              <a:spcAft>
                <a:spcPts val="400"/>
              </a:spcAft>
            </a:pPr>
            <a:r>
              <a:rPr sz="1400" b="0" i="0">
                <a:solidFill>
                  <a:srgbClr val="2D2D30"/>
                </a:solidFill>
                <a:latin typeface="Meiryo UI"/>
              </a:rPr>
              <a:t>  •  (ii) チューブ状に整形したゲルのインピーダンス測定</a:t>
            </a:r>
          </a:p>
        </p:txBody>
      </p:sp>
      <p:sp>
        <p:nvSpPr>
          <p:cNvPr id="5" name="TextBox 4"/>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3 / 22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325A8C"/>
          </a:solidFill>
          <a:ln>
            <a:noFill/>
          </a:ln>
        </p:spPr>
        <p:style>
          <a:lnRef idx="1">
            <a:schemeClr val="accent1"/>
          </a:lnRef>
          <a:fillRef idx="3">
            <a:schemeClr val="accent1"/>
          </a:fillRef>
          <a:effectRef idx="2">
            <a:schemeClr val="accent1"/>
          </a:effectRef>
          <a:fontRef idx="minor">
            <a:schemeClr val="lt1"/>
          </a:fontRef>
        </p:style>
        <p:txBody>
          <a:bodyPr wrap="square" lIns="640080" rtlCol="0" anchor="ctr"/>
          <a:lstStyle/>
          <a:p>
            <a:pPr algn="l"/>
            <a:r>
              <a:rPr sz="2600" b="1" i="0">
                <a:solidFill>
                  <a:srgbClr val="FFFFFF"/>
                </a:solidFill>
                <a:latin typeface="Meiryo UI"/>
              </a:rPr>
              <a:t>実験の経緯</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97280"/>
            <a:ext cx="11094415" cy="5394960"/>
          </a:xfrm>
          <a:prstGeom prst="rect">
            <a:avLst/>
          </a:prstGeom>
          <a:noFill/>
        </p:spPr>
        <p:txBody>
          <a:bodyPr wrap="square">
            <a:spAutoFit/>
          </a:bodyPr>
          <a:lstStyle/>
          <a:p>
            <a:pPr>
              <a:lnSpc>
                <a:spcPts val="2400"/>
              </a:lnSpc>
              <a:spcBef>
                <a:spcPts val="0"/>
              </a:spcBef>
              <a:spcAft>
                <a:spcPts val="600"/>
              </a:spcAft>
            </a:pPr>
            <a:r>
              <a:rPr sz="1600" b="1" i="0">
                <a:solidFill>
                  <a:srgbClr val="19376D"/>
                </a:solidFill>
                <a:latin typeface="Meiryo UI"/>
              </a:rPr>
              <a:t>3. 実験中に生じた課題</a:t>
            </a:r>
          </a:p>
          <a:p>
            <a:pPr>
              <a:lnSpc>
                <a:spcPts val="2380"/>
              </a:lnSpc>
              <a:spcBef>
                <a:spcPts val="300"/>
              </a:spcBef>
              <a:spcAft>
                <a:spcPts val="300"/>
              </a:spcAft>
            </a:pPr>
            <a:r>
              <a:rPr sz="1400" b="0" i="0">
                <a:solidFill>
                  <a:srgbClr val="2D2D30"/>
                </a:solidFill>
                <a:latin typeface="Meiryo UI"/>
              </a:rPr>
              <a:t>(ii)について、チューブ状に液体を詰めた状態で紫外線を当てゲルを固めることには成功したが、有意な電気的応答性が得られなかった。チューブ内の気泡が原因だと思われる。</a:t>
            </a:r>
          </a:p>
          <a:p>
            <a:pPr>
              <a:lnSpc>
                <a:spcPts val="2400"/>
              </a:lnSpc>
              <a:spcBef>
                <a:spcPts val="1400"/>
              </a:spcBef>
              <a:spcAft>
                <a:spcPts val="600"/>
              </a:spcAft>
            </a:pPr>
            <a:r>
              <a:rPr sz="1600" b="1" i="0">
                <a:solidFill>
                  <a:srgbClr val="19376D"/>
                </a:solidFill>
                <a:latin typeface="Meiryo UI"/>
              </a:rPr>
              <a:t>4. 変更・改善した点</a:t>
            </a:r>
          </a:p>
          <a:p>
            <a:pPr>
              <a:lnSpc>
                <a:spcPts val="2380"/>
              </a:lnSpc>
              <a:spcBef>
                <a:spcPts val="300"/>
              </a:spcBef>
              <a:spcAft>
                <a:spcPts val="300"/>
              </a:spcAft>
            </a:pPr>
            <a:r>
              <a:rPr sz="1400" b="0" i="0">
                <a:solidFill>
                  <a:srgbClr val="2D2D30"/>
                </a:solidFill>
                <a:latin typeface="Meiryo UI"/>
              </a:rPr>
              <a:t>(ii)について、チューブの口径をより大きいものに変更する案もあったが、実験の手法自体を変更することにした。チューブではなく、シャーレの上でゲルを固めることにした。</a:t>
            </a:r>
          </a:p>
        </p:txBody>
      </p:sp>
      <p:sp>
        <p:nvSpPr>
          <p:cNvPr id="5" name="TextBox 4"/>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4 / 22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078A0"/>
          </a:solidFill>
          <a:ln>
            <a:noFill/>
          </a:ln>
        </p:spPr>
        <p:style>
          <a:lnRef idx="1">
            <a:schemeClr val="accent1"/>
          </a:lnRef>
          <a:fillRef idx="3">
            <a:schemeClr val="accent1"/>
          </a:fillRef>
          <a:effectRef idx="2">
            <a:schemeClr val="accent1"/>
          </a:effectRef>
          <a:fontRef idx="minor">
            <a:schemeClr val="lt1"/>
          </a:fontRef>
        </p:style>
        <p:txBody>
          <a:bodyPr wrap="square" lIns="640080" rtlCol="0" anchor="ctr"/>
          <a:lstStyle/>
          <a:p>
            <a:pPr algn="l"/>
            <a:r>
              <a:rPr sz="2600" b="1" i="0">
                <a:solidFill>
                  <a:srgbClr val="FFFFFF"/>
                </a:solidFill>
                <a:latin typeface="Meiryo UI"/>
              </a:rPr>
              <a:t>実験方法</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97280"/>
            <a:ext cx="6858000" cy="5394960"/>
          </a:xfrm>
          <a:prstGeom prst="rect">
            <a:avLst/>
          </a:prstGeom>
          <a:noFill/>
        </p:spPr>
        <p:txBody>
          <a:bodyPr wrap="square">
            <a:spAutoFit/>
          </a:bodyPr>
          <a:lstStyle/>
          <a:p>
            <a:pPr>
              <a:lnSpc>
                <a:spcPts val="2400"/>
              </a:lnSpc>
              <a:spcBef>
                <a:spcPts val="0"/>
              </a:spcBef>
              <a:spcAft>
                <a:spcPts val="600"/>
              </a:spcAft>
            </a:pPr>
            <a:r>
              <a:rPr sz="1600" b="1" i="0">
                <a:solidFill>
                  <a:srgbClr val="19376D"/>
                </a:solidFill>
                <a:latin typeface="Meiryo UI"/>
              </a:rPr>
              <a:t>1. DMAAmゲルの作成</a:t>
            </a:r>
          </a:p>
          <a:p>
            <a:pPr>
              <a:lnSpc>
                <a:spcPts val="2210"/>
              </a:lnSpc>
              <a:spcBef>
                <a:spcPts val="300"/>
              </a:spcBef>
              <a:spcAft>
                <a:spcPts val="300"/>
              </a:spcAft>
            </a:pPr>
            <a:r>
              <a:rPr sz="1300" b="0" i="0">
                <a:solidFill>
                  <a:srgbClr val="2D2D30"/>
                </a:solidFill>
                <a:latin typeface="Meiryo UI"/>
              </a:rPr>
              <a:t>イオン液体[L]に対してDMAAm(モノマー)2[mol/L], α-keto(開始剤)0.001[mol/L], MBAA(架橋剤)0.02[mol/L]を混ぜたものを作成する。DMAAmを0.03[mol/L], 0.04[mol/L]にしたものも作成する。これらを8×8×2[mm]のスペーサーに流し込み紫外線で固めゲルにする。また、同様にシャーレに流し込み固める。</a:t>
            </a:r>
          </a:p>
          <a:p>
            <a:pPr>
              <a:lnSpc>
                <a:spcPts val="2400"/>
              </a:lnSpc>
              <a:spcBef>
                <a:spcPts val="1400"/>
              </a:spcBef>
              <a:spcAft>
                <a:spcPts val="600"/>
              </a:spcAft>
            </a:pPr>
            <a:r>
              <a:rPr sz="1600" b="1" i="0">
                <a:solidFill>
                  <a:srgbClr val="19376D"/>
                </a:solidFill>
                <a:latin typeface="Meiryo UI"/>
              </a:rPr>
              <a:t>2. DMAAmゲルの引張試験</a:t>
            </a:r>
          </a:p>
          <a:p>
            <a:pPr>
              <a:lnSpc>
                <a:spcPts val="2210"/>
              </a:lnSpc>
              <a:spcBef>
                <a:spcPts val="300"/>
              </a:spcBef>
              <a:spcAft>
                <a:spcPts val="300"/>
              </a:spcAft>
            </a:pPr>
            <a:r>
              <a:rPr sz="1300" b="0" i="0">
                <a:solidFill>
                  <a:srgbClr val="2D2D30"/>
                </a:solidFill>
                <a:latin typeface="Meiryo UI"/>
              </a:rPr>
              <a:t>作成したDMAAmゲルをダンベル状7号型(図1)で型を取り、フォーステスターを使用して引張試験を行う。</a:t>
            </a:r>
          </a:p>
          <a:p>
            <a:pPr>
              <a:lnSpc>
                <a:spcPts val="2400"/>
              </a:lnSpc>
              <a:spcBef>
                <a:spcPts val="1400"/>
              </a:spcBef>
              <a:spcAft>
                <a:spcPts val="600"/>
              </a:spcAft>
            </a:pPr>
            <a:r>
              <a:rPr sz="1600" b="1" i="0">
                <a:solidFill>
                  <a:srgbClr val="19376D"/>
                </a:solidFill>
                <a:latin typeface="Meiryo UI"/>
              </a:rPr>
              <a:t>3. DMAAmゲルのインピーダンスの測定</a:t>
            </a:r>
          </a:p>
          <a:p>
            <a:pPr>
              <a:lnSpc>
                <a:spcPts val="2210"/>
              </a:lnSpc>
              <a:spcBef>
                <a:spcPts val="300"/>
              </a:spcBef>
              <a:spcAft>
                <a:spcPts val="300"/>
              </a:spcAft>
            </a:pPr>
            <a:r>
              <a:rPr sz="1300" b="0" i="0">
                <a:solidFill>
                  <a:srgbClr val="2D2D30"/>
                </a:solidFill>
                <a:latin typeface="Meiryo UI"/>
              </a:rPr>
              <a:t>ANALOG DISCOVERY 3を使用してDMAAmゲルのインピーダンスを測定する。作成したDMAAmゲルをダンベル状7号型(図1)で型を取ったものとシャーレに作成したDMAAmゲルにアルミホイル(電極)を付けたもの(図2)のインピーダンスを測定する。</a:t>
            </a:r>
          </a:p>
        </p:txBody>
      </p:sp>
      <p:pic>
        <p:nvPicPr>
          <p:cNvPr id="5" name="Picture 4" descr="image.png"/>
          <p:cNvPicPr>
            <a:picLocks noChangeAspect="1"/>
          </p:cNvPicPr>
          <p:nvPr/>
        </p:nvPicPr>
        <p:blipFill>
          <a:blip r:embed="rId2"/>
          <a:stretch>
            <a:fillRect/>
          </a:stretch>
        </p:blipFill>
        <p:spPr>
          <a:xfrm>
            <a:off x="7680960" y="1463040"/>
            <a:ext cx="2924016" cy="1645920"/>
          </a:xfrm>
          <a:prstGeom prst="rect">
            <a:avLst/>
          </a:prstGeom>
        </p:spPr>
      </p:pic>
      <p:sp>
        <p:nvSpPr>
          <p:cNvPr id="6" name="TextBox 5"/>
          <p:cNvSpPr txBox="1"/>
          <p:nvPr/>
        </p:nvSpPr>
        <p:spPr>
          <a:xfrm>
            <a:off x="7680960" y="3154680"/>
            <a:ext cx="3962095" cy="274320"/>
          </a:xfrm>
          <a:prstGeom prst="rect">
            <a:avLst/>
          </a:prstGeom>
          <a:noFill/>
        </p:spPr>
        <p:txBody>
          <a:bodyPr wrap="none">
            <a:spAutoFit/>
          </a:bodyPr>
          <a:lstStyle/>
          <a:p>
            <a:pPr algn="ctr"/>
            <a:r>
              <a:rPr sz="1000" b="0" i="0">
                <a:solidFill>
                  <a:srgbClr val="646469"/>
                </a:solidFill>
                <a:latin typeface="Meiryo UI"/>
              </a:rPr>
              <a:t>図1. ダンベル状7号</a:t>
            </a:r>
          </a:p>
        </p:txBody>
      </p:sp>
      <p:pic>
        <p:nvPicPr>
          <p:cNvPr id="7" name="Picture 6" descr="image.jpg"/>
          <p:cNvPicPr>
            <a:picLocks noChangeAspect="1"/>
          </p:cNvPicPr>
          <p:nvPr/>
        </p:nvPicPr>
        <p:blipFill>
          <a:blip r:embed="rId3"/>
          <a:stretch>
            <a:fillRect/>
          </a:stretch>
        </p:blipFill>
        <p:spPr>
          <a:xfrm>
            <a:off x="7680960" y="3566160"/>
            <a:ext cx="1929616" cy="1828800"/>
          </a:xfrm>
          <a:prstGeom prst="rect">
            <a:avLst/>
          </a:prstGeom>
        </p:spPr>
      </p:pic>
      <p:sp>
        <p:nvSpPr>
          <p:cNvPr id="8" name="TextBox 7"/>
          <p:cNvSpPr txBox="1"/>
          <p:nvPr/>
        </p:nvSpPr>
        <p:spPr>
          <a:xfrm>
            <a:off x="7680960" y="5440680"/>
            <a:ext cx="3962095" cy="274320"/>
          </a:xfrm>
          <a:prstGeom prst="rect">
            <a:avLst/>
          </a:prstGeom>
          <a:noFill/>
        </p:spPr>
        <p:txBody>
          <a:bodyPr wrap="none">
            <a:spAutoFit/>
          </a:bodyPr>
          <a:lstStyle/>
          <a:p>
            <a:pPr algn="ctr"/>
            <a:r>
              <a:rPr sz="1000" b="0" i="0">
                <a:solidFill>
                  <a:srgbClr val="646469"/>
                </a:solidFill>
                <a:latin typeface="Meiryo UI"/>
              </a:rPr>
              <a:t>図2. シャーレに作成したDMAAmゲル</a:t>
            </a:r>
          </a:p>
        </p:txBody>
      </p:sp>
      <p:sp>
        <p:nvSpPr>
          <p:cNvPr id="9" name="TextBox 8"/>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5 / 22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078A0"/>
          </a:solidFill>
          <a:ln>
            <a:noFill/>
          </a:ln>
        </p:spPr>
        <p:style>
          <a:lnRef idx="1">
            <a:schemeClr val="accent1"/>
          </a:lnRef>
          <a:fillRef idx="3">
            <a:schemeClr val="accent1"/>
          </a:fillRef>
          <a:effectRef idx="2">
            <a:schemeClr val="accent1"/>
          </a:effectRef>
          <a:fontRef idx="minor">
            <a:schemeClr val="lt1"/>
          </a:fontRef>
        </p:style>
        <p:txBody>
          <a:bodyPr wrap="square" lIns="640080" rtlCol="0" anchor="ctr"/>
          <a:lstStyle/>
          <a:p>
            <a:pPr algn="l"/>
            <a:r>
              <a:rPr sz="2600" b="1" i="0">
                <a:solidFill>
                  <a:srgbClr val="FFFFFF"/>
                </a:solidFill>
                <a:latin typeface="Meiryo UI"/>
              </a:rPr>
              <a:t>使用器具</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280160"/>
            <a:ext cx="11094415" cy="5394960"/>
          </a:xfrm>
          <a:prstGeom prst="rect">
            <a:avLst/>
          </a:prstGeom>
          <a:noFill/>
        </p:spPr>
        <p:txBody>
          <a:bodyPr wrap="square">
            <a:spAutoFit/>
          </a:bodyPr>
          <a:lstStyle/>
          <a:p>
            <a:pPr>
              <a:lnSpc>
                <a:spcPts val="2720"/>
              </a:lnSpc>
              <a:spcBef>
                <a:spcPts val="400"/>
              </a:spcBef>
              <a:spcAft>
                <a:spcPts val="400"/>
              </a:spcAft>
            </a:pPr>
            <a:r>
              <a:rPr sz="1600" b="0" i="0">
                <a:solidFill>
                  <a:srgbClr val="2D2D30"/>
                </a:solidFill>
                <a:latin typeface="Meiryo UI"/>
              </a:rPr>
              <a:t>  •  ANALOG DISCOVERY 3</a:t>
            </a:r>
          </a:p>
          <a:p>
            <a:pPr>
              <a:lnSpc>
                <a:spcPts val="2720"/>
              </a:lnSpc>
              <a:spcBef>
                <a:spcPts val="400"/>
              </a:spcBef>
              <a:spcAft>
                <a:spcPts val="400"/>
              </a:spcAft>
            </a:pPr>
            <a:r>
              <a:rPr sz="1600" b="0" i="0">
                <a:solidFill>
                  <a:srgbClr val="2D2D30"/>
                </a:solidFill>
                <a:latin typeface="Meiryo UI"/>
              </a:rPr>
              <a:t>  •  シャーレ（直径69 mm）</a:t>
            </a:r>
          </a:p>
          <a:p>
            <a:pPr>
              <a:lnSpc>
                <a:spcPts val="2720"/>
              </a:lnSpc>
              <a:spcBef>
                <a:spcPts val="400"/>
              </a:spcBef>
              <a:spcAft>
                <a:spcPts val="400"/>
              </a:spcAft>
            </a:pPr>
            <a:r>
              <a:rPr sz="1600" b="0" i="0">
                <a:solidFill>
                  <a:srgbClr val="2D2D30"/>
                </a:solidFill>
                <a:latin typeface="Meiryo UI"/>
              </a:rPr>
              <a:t>  •  アルミホイル（電極）</a:t>
            </a:r>
          </a:p>
          <a:p>
            <a:pPr>
              <a:lnSpc>
                <a:spcPts val="2720"/>
              </a:lnSpc>
              <a:spcBef>
                <a:spcPts val="400"/>
              </a:spcBef>
              <a:spcAft>
                <a:spcPts val="400"/>
              </a:spcAft>
            </a:pPr>
            <a:r>
              <a:rPr sz="1600" b="0" i="0">
                <a:solidFill>
                  <a:srgbClr val="2D2D30"/>
                </a:solidFill>
                <a:latin typeface="Meiryo UI"/>
              </a:rPr>
              <a:t>  •  フォーステスター（MCT-1150/2150/2150W）</a:t>
            </a:r>
          </a:p>
          <a:p>
            <a:pPr>
              <a:lnSpc>
                <a:spcPts val="2720"/>
              </a:lnSpc>
              <a:spcBef>
                <a:spcPts val="400"/>
              </a:spcBef>
              <a:spcAft>
                <a:spcPts val="400"/>
              </a:spcAft>
            </a:pPr>
            <a:r>
              <a:rPr sz="1600" b="0" i="0">
                <a:solidFill>
                  <a:srgbClr val="2D2D30"/>
                </a:solidFill>
                <a:latin typeface="Meiryo UI"/>
              </a:rPr>
              <a:t>  •  電極クリップ</a:t>
            </a:r>
          </a:p>
          <a:p>
            <a:pPr>
              <a:lnSpc>
                <a:spcPts val="2720"/>
              </a:lnSpc>
              <a:spcBef>
                <a:spcPts val="400"/>
              </a:spcBef>
              <a:spcAft>
                <a:spcPts val="400"/>
              </a:spcAft>
            </a:pPr>
            <a:r>
              <a:rPr sz="1600" b="0" i="0">
                <a:solidFill>
                  <a:srgbClr val="2D2D30"/>
                </a:solidFill>
                <a:latin typeface="Meiryo UI"/>
              </a:rPr>
              <a:t>  •  SD型レバー式試料裁断機（型式SDL-100）</a:t>
            </a:r>
          </a:p>
          <a:p>
            <a:pPr>
              <a:lnSpc>
                <a:spcPts val="2720"/>
              </a:lnSpc>
              <a:spcBef>
                <a:spcPts val="400"/>
              </a:spcBef>
              <a:spcAft>
                <a:spcPts val="400"/>
              </a:spcAft>
            </a:pPr>
            <a:r>
              <a:rPr sz="1600" b="0" i="0">
                <a:solidFill>
                  <a:srgbClr val="2D2D30"/>
                </a:solidFill>
                <a:latin typeface="Meiryo UI"/>
              </a:rPr>
              <a:t>  •  スーパーダンベルカッター（型式SDMP-1000-D, 規格JIS K6251-7号）</a:t>
            </a:r>
          </a:p>
          <a:p>
            <a:pPr>
              <a:lnSpc>
                <a:spcPts val="2720"/>
              </a:lnSpc>
              <a:spcBef>
                <a:spcPts val="400"/>
              </a:spcBef>
              <a:spcAft>
                <a:spcPts val="400"/>
              </a:spcAft>
            </a:pPr>
            <a:r>
              <a:rPr sz="1600" b="0" i="0">
                <a:solidFill>
                  <a:srgbClr val="2D2D30"/>
                </a:solidFill>
                <a:latin typeface="Meiryo UI"/>
              </a:rPr>
              <a:t>  •  紫外線照射装置（※手作りのため製品情報なし）</a:t>
            </a:r>
          </a:p>
        </p:txBody>
      </p:sp>
      <p:sp>
        <p:nvSpPr>
          <p:cNvPr id="5" name="TextBox 4"/>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6 / 22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078A0"/>
          </a:solidFill>
          <a:ln>
            <a:noFill/>
          </a:ln>
        </p:spPr>
        <p:style>
          <a:lnRef idx="1">
            <a:schemeClr val="accent1"/>
          </a:lnRef>
          <a:fillRef idx="3">
            <a:schemeClr val="accent1"/>
          </a:fillRef>
          <a:effectRef idx="2">
            <a:schemeClr val="accent1"/>
          </a:effectRef>
          <a:fontRef idx="minor">
            <a:schemeClr val="lt1"/>
          </a:fontRef>
        </p:style>
        <p:txBody>
          <a:bodyPr wrap="square" lIns="640080" rtlCol="0" anchor="ctr"/>
          <a:lstStyle/>
          <a:p>
            <a:pPr algn="l"/>
            <a:r>
              <a:rPr sz="2600" b="1" i="0">
                <a:solidFill>
                  <a:srgbClr val="FFFFFF"/>
                </a:solidFill>
                <a:latin typeface="Meiryo UI"/>
              </a:rPr>
              <a:t>実験材料</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371600"/>
          <a:ext cx="10698480" cy="2514600"/>
        </p:xfrm>
        <a:graphic>
          <a:graphicData uri="http://schemas.openxmlformats.org/drawingml/2006/table">
            <a:tbl>
              <a:tblPr firstRow="1" bandRow="1">
                <a:tableStyleId>{5C22544A-7EE6-4342-B048-85BDC9FD1C3A}</a:tableStyleId>
              </a:tblPr>
              <a:tblGrid>
                <a:gridCol w="2674620">
                  <a:extLst>
                    <a:ext uri="{9D8B030D-6E8A-4147-A177-3AD203B41FA5}">
                      <a16:colId xmlns:a16="http://schemas.microsoft.com/office/drawing/2014/main" val="20000"/>
                    </a:ext>
                  </a:extLst>
                </a:gridCol>
                <a:gridCol w="2674620">
                  <a:extLst>
                    <a:ext uri="{9D8B030D-6E8A-4147-A177-3AD203B41FA5}">
                      <a16:colId xmlns:a16="http://schemas.microsoft.com/office/drawing/2014/main" val="20001"/>
                    </a:ext>
                  </a:extLst>
                </a:gridCol>
                <a:gridCol w="2674620">
                  <a:extLst>
                    <a:ext uri="{9D8B030D-6E8A-4147-A177-3AD203B41FA5}">
                      <a16:colId xmlns:a16="http://schemas.microsoft.com/office/drawing/2014/main" val="20002"/>
                    </a:ext>
                  </a:extLst>
                </a:gridCol>
                <a:gridCol w="2674620">
                  <a:extLst>
                    <a:ext uri="{9D8B030D-6E8A-4147-A177-3AD203B41FA5}">
                      <a16:colId xmlns:a16="http://schemas.microsoft.com/office/drawing/2014/main" val="20003"/>
                    </a:ext>
                  </a:extLst>
                </a:gridCol>
              </a:tblGrid>
              <a:tr h="502920">
                <a:tc>
                  <a:txBody>
                    <a:bodyPr/>
                    <a:lstStyle/>
                    <a:p>
                      <a:pPr algn="ctr"/>
                      <a:r>
                        <a:rPr sz="1100" b="1" i="0">
                          <a:solidFill>
                            <a:srgbClr val="FFFFFF"/>
                          </a:solidFill>
                          <a:latin typeface="Meiryo UI"/>
                        </a:rPr>
                        <a:t>No.</a:t>
                      </a:r>
                    </a:p>
                  </a:txBody>
                  <a:tcPr>
                    <a:solidFill>
                      <a:srgbClr val="19376D"/>
                    </a:solidFill>
                  </a:tcPr>
                </a:tc>
                <a:tc>
                  <a:txBody>
                    <a:bodyPr/>
                    <a:lstStyle/>
                    <a:p>
                      <a:pPr algn="ctr"/>
                      <a:r>
                        <a:rPr sz="1100" b="1" i="0">
                          <a:solidFill>
                            <a:srgbClr val="FFFFFF"/>
                          </a:solidFill>
                          <a:latin typeface="Meiryo UI"/>
                        </a:rPr>
                        <a:t>材料名</a:t>
                      </a:r>
                    </a:p>
                  </a:txBody>
                  <a:tcPr>
                    <a:solidFill>
                      <a:srgbClr val="19376D"/>
                    </a:solidFill>
                  </a:tcPr>
                </a:tc>
                <a:tc>
                  <a:txBody>
                    <a:bodyPr/>
                    <a:lstStyle/>
                    <a:p>
                      <a:pPr algn="ctr"/>
                      <a:r>
                        <a:rPr sz="1100" b="1" i="0">
                          <a:solidFill>
                            <a:srgbClr val="FFFFFF"/>
                          </a:solidFill>
                          <a:latin typeface="Meiryo UI"/>
                        </a:rPr>
                        <a:t>化学式</a:t>
                      </a:r>
                    </a:p>
                  </a:txBody>
                  <a:tcPr>
                    <a:solidFill>
                      <a:srgbClr val="19376D"/>
                    </a:solidFill>
                  </a:tcPr>
                </a:tc>
                <a:tc>
                  <a:txBody>
                    <a:bodyPr/>
                    <a:lstStyle/>
                    <a:p>
                      <a:pPr algn="ctr"/>
                      <a:r>
                        <a:rPr sz="1100" b="1" i="0">
                          <a:solidFill>
                            <a:srgbClr val="FFFFFF"/>
                          </a:solidFill>
                          <a:latin typeface="Meiryo UI"/>
                        </a:rPr>
                        <a:t>役割</a:t>
                      </a:r>
                    </a:p>
                  </a:txBody>
                  <a:tcPr>
                    <a:solidFill>
                      <a:srgbClr val="19376D"/>
                    </a:solidFill>
                  </a:tcPr>
                </a:tc>
                <a:extLst>
                  <a:ext uri="{0D108BD9-81ED-4DB2-BD59-A6C34878D82A}">
                    <a16:rowId xmlns:a16="http://schemas.microsoft.com/office/drawing/2014/main" val="10000"/>
                  </a:ext>
                </a:extLst>
              </a:tr>
              <a:tr h="502920">
                <a:tc>
                  <a:txBody>
                    <a:bodyPr/>
                    <a:lstStyle/>
                    <a:p>
                      <a:pPr algn="l"/>
                      <a:r>
                        <a:rPr sz="1100" b="0" i="0">
                          <a:solidFill>
                            <a:srgbClr val="2D2D30"/>
                          </a:solidFill>
                          <a:latin typeface="Meiryo UI"/>
                        </a:rPr>
                        <a:t>1</a:t>
                      </a:r>
                    </a:p>
                  </a:txBody>
                  <a:tcPr>
                    <a:solidFill>
                      <a:srgbClr val="FFFFFF"/>
                    </a:solidFill>
                  </a:tcPr>
                </a:tc>
                <a:tc>
                  <a:txBody>
                    <a:bodyPr/>
                    <a:lstStyle/>
                    <a:p>
                      <a:pPr algn="ctr"/>
                      <a:r>
                        <a:rPr sz="1100" b="0" i="0">
                          <a:solidFill>
                            <a:srgbClr val="2D2D30"/>
                          </a:solidFill>
                          <a:latin typeface="Meiryo UI"/>
                        </a:rPr>
                        <a:t>1-ブチル-3-メチルイミダゾリウム
ビス(フルオロスルホニル)イミド</a:t>
                      </a:r>
                    </a:p>
                  </a:txBody>
                  <a:tcPr>
                    <a:solidFill>
                      <a:srgbClr val="FFFFFF"/>
                    </a:solidFill>
                  </a:tcPr>
                </a:tc>
                <a:tc>
                  <a:txBody>
                    <a:bodyPr/>
                    <a:lstStyle/>
                    <a:p>
                      <a:pPr algn="ctr"/>
                      <a:r>
                        <a:rPr sz="1100" b="0" i="0">
                          <a:solidFill>
                            <a:srgbClr val="2D2D30"/>
                          </a:solidFill>
                          <a:latin typeface="Meiryo UI"/>
                        </a:rPr>
                        <a:t>C₈H₁₅F₂N₃O₄S₂</a:t>
                      </a:r>
                    </a:p>
                  </a:txBody>
                  <a:tcPr>
                    <a:solidFill>
                      <a:srgbClr val="FFFFFF"/>
                    </a:solidFill>
                  </a:tcPr>
                </a:tc>
                <a:tc>
                  <a:txBody>
                    <a:bodyPr/>
                    <a:lstStyle/>
                    <a:p>
                      <a:pPr algn="ctr"/>
                      <a:r>
                        <a:rPr sz="1100" b="0" i="0">
                          <a:solidFill>
                            <a:srgbClr val="2D2D30"/>
                          </a:solidFill>
                          <a:latin typeface="Meiryo UI"/>
                        </a:rPr>
                        <a:t>イオン液体</a:t>
                      </a:r>
                    </a:p>
                  </a:txBody>
                  <a:tcPr>
                    <a:solidFill>
                      <a:srgbClr val="FFFFFF"/>
                    </a:solidFill>
                  </a:tcPr>
                </a:tc>
                <a:extLst>
                  <a:ext uri="{0D108BD9-81ED-4DB2-BD59-A6C34878D82A}">
                    <a16:rowId xmlns:a16="http://schemas.microsoft.com/office/drawing/2014/main" val="10001"/>
                  </a:ext>
                </a:extLst>
              </a:tr>
              <a:tr h="502920">
                <a:tc>
                  <a:txBody>
                    <a:bodyPr/>
                    <a:lstStyle/>
                    <a:p>
                      <a:pPr algn="l"/>
                      <a:r>
                        <a:rPr sz="1100" b="0" i="0">
                          <a:solidFill>
                            <a:srgbClr val="2D2D30"/>
                          </a:solidFill>
                          <a:latin typeface="Meiryo UI"/>
                        </a:rPr>
                        <a:t>2</a:t>
                      </a:r>
                    </a:p>
                  </a:txBody>
                  <a:tcPr>
                    <a:solidFill>
                      <a:srgbClr val="EBF0F8"/>
                    </a:solidFill>
                  </a:tcPr>
                </a:tc>
                <a:tc>
                  <a:txBody>
                    <a:bodyPr/>
                    <a:lstStyle/>
                    <a:p>
                      <a:pPr algn="ctr"/>
                      <a:r>
                        <a:rPr sz="1100" b="0" i="0">
                          <a:solidFill>
                            <a:srgbClr val="2D2D30"/>
                          </a:solidFill>
                          <a:latin typeface="Meiryo UI"/>
                        </a:rPr>
                        <a:t>N,N-ジメチルアクリルアミド</a:t>
                      </a:r>
                    </a:p>
                  </a:txBody>
                  <a:tcPr>
                    <a:solidFill>
                      <a:srgbClr val="EBF0F8"/>
                    </a:solidFill>
                  </a:tcPr>
                </a:tc>
                <a:tc>
                  <a:txBody>
                    <a:bodyPr/>
                    <a:lstStyle/>
                    <a:p>
                      <a:pPr algn="ctr"/>
                      <a:r>
                        <a:rPr sz="1100" b="0" i="0">
                          <a:solidFill>
                            <a:srgbClr val="2D2D30"/>
                          </a:solidFill>
                          <a:latin typeface="Meiryo UI"/>
                        </a:rPr>
                        <a:t>C₅H₉NO</a:t>
                      </a:r>
                    </a:p>
                  </a:txBody>
                  <a:tcPr>
                    <a:solidFill>
                      <a:srgbClr val="EBF0F8"/>
                    </a:solidFill>
                  </a:tcPr>
                </a:tc>
                <a:tc>
                  <a:txBody>
                    <a:bodyPr/>
                    <a:lstStyle/>
                    <a:p>
                      <a:pPr algn="ctr"/>
                      <a:r>
                        <a:rPr sz="1100" b="0" i="0">
                          <a:solidFill>
                            <a:srgbClr val="2D2D30"/>
                          </a:solidFill>
                          <a:latin typeface="Meiryo UI"/>
                        </a:rPr>
                        <a:t>モノマー</a:t>
                      </a:r>
                    </a:p>
                  </a:txBody>
                  <a:tcPr>
                    <a:solidFill>
                      <a:srgbClr val="EBF0F8"/>
                    </a:solidFill>
                  </a:tcPr>
                </a:tc>
                <a:extLst>
                  <a:ext uri="{0D108BD9-81ED-4DB2-BD59-A6C34878D82A}">
                    <a16:rowId xmlns:a16="http://schemas.microsoft.com/office/drawing/2014/main" val="10002"/>
                  </a:ext>
                </a:extLst>
              </a:tr>
              <a:tr h="502920">
                <a:tc>
                  <a:txBody>
                    <a:bodyPr/>
                    <a:lstStyle/>
                    <a:p>
                      <a:pPr algn="l"/>
                      <a:r>
                        <a:rPr sz="1100" b="0" i="0">
                          <a:solidFill>
                            <a:srgbClr val="2D2D30"/>
                          </a:solidFill>
                          <a:latin typeface="Meiryo UI"/>
                        </a:rPr>
                        <a:t>3</a:t>
                      </a:r>
                    </a:p>
                  </a:txBody>
                  <a:tcPr>
                    <a:solidFill>
                      <a:srgbClr val="FFFFFF"/>
                    </a:solidFill>
                  </a:tcPr>
                </a:tc>
                <a:tc>
                  <a:txBody>
                    <a:bodyPr/>
                    <a:lstStyle/>
                    <a:p>
                      <a:pPr algn="ctr"/>
                      <a:r>
                        <a:rPr sz="1100" b="0" i="0">
                          <a:solidFill>
                            <a:srgbClr val="2D2D30"/>
                          </a:solidFill>
                          <a:latin typeface="Meiryo UI"/>
                        </a:rPr>
                        <a:t>α-ケトグルタル酸</a:t>
                      </a:r>
                    </a:p>
                  </a:txBody>
                  <a:tcPr>
                    <a:solidFill>
                      <a:srgbClr val="FFFFFF"/>
                    </a:solidFill>
                  </a:tcPr>
                </a:tc>
                <a:tc>
                  <a:txBody>
                    <a:bodyPr/>
                    <a:lstStyle/>
                    <a:p>
                      <a:pPr algn="ctr"/>
                      <a:r>
                        <a:rPr sz="1100" b="0" i="0">
                          <a:solidFill>
                            <a:srgbClr val="2D2D30"/>
                          </a:solidFill>
                          <a:latin typeface="Meiryo UI"/>
                        </a:rPr>
                        <a:t>C₅H₆O₅</a:t>
                      </a:r>
                    </a:p>
                  </a:txBody>
                  <a:tcPr>
                    <a:solidFill>
                      <a:srgbClr val="FFFFFF"/>
                    </a:solidFill>
                  </a:tcPr>
                </a:tc>
                <a:tc>
                  <a:txBody>
                    <a:bodyPr/>
                    <a:lstStyle/>
                    <a:p>
                      <a:pPr algn="ctr"/>
                      <a:r>
                        <a:rPr sz="1100" b="0" i="0">
                          <a:solidFill>
                            <a:srgbClr val="2D2D30"/>
                          </a:solidFill>
                          <a:latin typeface="Meiryo UI"/>
                        </a:rPr>
                        <a:t>開始剤</a:t>
                      </a:r>
                    </a:p>
                  </a:txBody>
                  <a:tcPr>
                    <a:solidFill>
                      <a:srgbClr val="FFFFFF"/>
                    </a:solidFill>
                  </a:tcPr>
                </a:tc>
                <a:extLst>
                  <a:ext uri="{0D108BD9-81ED-4DB2-BD59-A6C34878D82A}">
                    <a16:rowId xmlns:a16="http://schemas.microsoft.com/office/drawing/2014/main" val="10003"/>
                  </a:ext>
                </a:extLst>
              </a:tr>
              <a:tr h="502920">
                <a:tc>
                  <a:txBody>
                    <a:bodyPr/>
                    <a:lstStyle/>
                    <a:p>
                      <a:pPr algn="l"/>
                      <a:r>
                        <a:rPr sz="1100" b="0" i="0">
                          <a:solidFill>
                            <a:srgbClr val="2D2D30"/>
                          </a:solidFill>
                          <a:latin typeface="Meiryo UI"/>
                        </a:rPr>
                        <a:t>4</a:t>
                      </a:r>
                    </a:p>
                  </a:txBody>
                  <a:tcPr>
                    <a:solidFill>
                      <a:srgbClr val="EBF0F8"/>
                    </a:solidFill>
                  </a:tcPr>
                </a:tc>
                <a:tc>
                  <a:txBody>
                    <a:bodyPr/>
                    <a:lstStyle/>
                    <a:p>
                      <a:pPr algn="ctr"/>
                      <a:r>
                        <a:rPr sz="1100" b="0" i="0">
                          <a:solidFill>
                            <a:srgbClr val="2D2D30"/>
                          </a:solidFill>
                          <a:latin typeface="Meiryo UI"/>
                        </a:rPr>
                        <a:t>N,N'-メチレンビスアクリルアミド</a:t>
                      </a:r>
                    </a:p>
                  </a:txBody>
                  <a:tcPr>
                    <a:solidFill>
                      <a:srgbClr val="EBF0F8"/>
                    </a:solidFill>
                  </a:tcPr>
                </a:tc>
                <a:tc>
                  <a:txBody>
                    <a:bodyPr/>
                    <a:lstStyle/>
                    <a:p>
                      <a:pPr algn="ctr"/>
                      <a:r>
                        <a:rPr sz="1100" b="0" i="0">
                          <a:solidFill>
                            <a:srgbClr val="2D2D30"/>
                          </a:solidFill>
                          <a:latin typeface="Meiryo UI"/>
                        </a:rPr>
                        <a:t>C₇H₁₀N₂O₂</a:t>
                      </a:r>
                    </a:p>
                  </a:txBody>
                  <a:tcPr>
                    <a:solidFill>
                      <a:srgbClr val="EBF0F8"/>
                    </a:solidFill>
                  </a:tcPr>
                </a:tc>
                <a:tc>
                  <a:txBody>
                    <a:bodyPr/>
                    <a:lstStyle/>
                    <a:p>
                      <a:pPr algn="ctr"/>
                      <a:r>
                        <a:rPr sz="1100" b="0" i="0">
                          <a:solidFill>
                            <a:srgbClr val="2D2D30"/>
                          </a:solidFill>
                          <a:latin typeface="Meiryo UI"/>
                        </a:rPr>
                        <a:t>架橋剤</a:t>
                      </a:r>
                    </a:p>
                  </a:txBody>
                  <a:tcPr>
                    <a:solidFill>
                      <a:srgbClr val="EBF0F8"/>
                    </a:solidFill>
                  </a:tcPr>
                </a:tc>
                <a:extLst>
                  <a:ext uri="{0D108BD9-81ED-4DB2-BD59-A6C34878D82A}">
                    <a16:rowId xmlns:a16="http://schemas.microsoft.com/office/drawing/2014/main" val="10004"/>
                  </a:ext>
                </a:extLst>
              </a:tr>
            </a:tbl>
          </a:graphicData>
        </a:graphic>
      </p:graphicFrame>
      <p:pic>
        <p:nvPicPr>
          <p:cNvPr id="5" name="Picture 4" descr="image.png"/>
          <p:cNvPicPr>
            <a:picLocks noChangeAspect="1"/>
          </p:cNvPicPr>
          <p:nvPr/>
        </p:nvPicPr>
        <p:blipFill>
          <a:blip r:embed="rId2"/>
          <a:stretch>
            <a:fillRect/>
          </a:stretch>
        </p:blipFill>
        <p:spPr>
          <a:xfrm>
            <a:off x="548640" y="4297680"/>
            <a:ext cx="2377440" cy="1088403"/>
          </a:xfrm>
          <a:prstGeom prst="rect">
            <a:avLst/>
          </a:prstGeom>
        </p:spPr>
      </p:pic>
      <p:sp>
        <p:nvSpPr>
          <p:cNvPr id="6" name="TextBox 5"/>
          <p:cNvSpPr txBox="1"/>
          <p:nvPr/>
        </p:nvSpPr>
        <p:spPr>
          <a:xfrm>
            <a:off x="2560320" y="5203203"/>
            <a:ext cx="457200" cy="274320"/>
          </a:xfrm>
          <a:prstGeom prst="rect">
            <a:avLst/>
          </a:prstGeom>
          <a:noFill/>
        </p:spPr>
        <p:txBody>
          <a:bodyPr wrap="none">
            <a:spAutoFit/>
          </a:bodyPr>
          <a:lstStyle/>
          <a:p>
            <a:pPr algn="r"/>
            <a:r>
              <a:rPr sz="900" b="0" i="0">
                <a:solidFill>
                  <a:srgbClr val="646469"/>
                </a:solidFill>
                <a:latin typeface="Segoe UI"/>
              </a:rPr>
              <a:t>[1]</a:t>
            </a:r>
          </a:p>
        </p:txBody>
      </p:sp>
      <p:pic>
        <p:nvPicPr>
          <p:cNvPr id="7" name="Picture 6" descr="image.png"/>
          <p:cNvPicPr>
            <a:picLocks noChangeAspect="1"/>
          </p:cNvPicPr>
          <p:nvPr/>
        </p:nvPicPr>
        <p:blipFill>
          <a:blip r:embed="rId3"/>
          <a:stretch>
            <a:fillRect/>
          </a:stretch>
        </p:blipFill>
        <p:spPr>
          <a:xfrm>
            <a:off x="3297735" y="4876224"/>
            <a:ext cx="2377440" cy="2017203"/>
          </a:xfrm>
          <a:prstGeom prst="rect">
            <a:avLst/>
          </a:prstGeom>
        </p:spPr>
      </p:pic>
      <p:sp>
        <p:nvSpPr>
          <p:cNvPr id="8" name="TextBox 7"/>
          <p:cNvSpPr txBox="1"/>
          <p:nvPr/>
        </p:nvSpPr>
        <p:spPr>
          <a:xfrm>
            <a:off x="5394960" y="4985925"/>
            <a:ext cx="457200" cy="274320"/>
          </a:xfrm>
          <a:prstGeom prst="rect">
            <a:avLst/>
          </a:prstGeom>
          <a:noFill/>
        </p:spPr>
        <p:txBody>
          <a:bodyPr wrap="none">
            <a:spAutoFit/>
          </a:bodyPr>
          <a:lstStyle/>
          <a:p>
            <a:pPr algn="r"/>
            <a:r>
              <a:rPr sz="900" b="0" i="0" dirty="0">
                <a:solidFill>
                  <a:srgbClr val="646469"/>
                </a:solidFill>
                <a:latin typeface="Segoe UI"/>
              </a:rPr>
              <a:t>[2]</a:t>
            </a:r>
          </a:p>
        </p:txBody>
      </p:sp>
      <p:pic>
        <p:nvPicPr>
          <p:cNvPr id="9" name="Picture 8" descr="image.png"/>
          <p:cNvPicPr>
            <a:picLocks noChangeAspect="1"/>
          </p:cNvPicPr>
          <p:nvPr/>
        </p:nvPicPr>
        <p:blipFill>
          <a:blip r:embed="rId4"/>
          <a:stretch>
            <a:fillRect/>
          </a:stretch>
        </p:blipFill>
        <p:spPr>
          <a:xfrm>
            <a:off x="6035040" y="4297680"/>
            <a:ext cx="1657709" cy="1097280"/>
          </a:xfrm>
          <a:prstGeom prst="rect">
            <a:avLst/>
          </a:prstGeom>
        </p:spPr>
      </p:pic>
      <p:sp>
        <p:nvSpPr>
          <p:cNvPr id="10" name="TextBox 9"/>
          <p:cNvSpPr txBox="1"/>
          <p:nvPr/>
        </p:nvSpPr>
        <p:spPr>
          <a:xfrm>
            <a:off x="7326989" y="5212080"/>
            <a:ext cx="457200" cy="274320"/>
          </a:xfrm>
          <a:prstGeom prst="rect">
            <a:avLst/>
          </a:prstGeom>
          <a:noFill/>
        </p:spPr>
        <p:txBody>
          <a:bodyPr wrap="none">
            <a:spAutoFit/>
          </a:bodyPr>
          <a:lstStyle/>
          <a:p>
            <a:pPr algn="r"/>
            <a:r>
              <a:rPr sz="900" b="0" i="0">
                <a:solidFill>
                  <a:srgbClr val="646469"/>
                </a:solidFill>
                <a:latin typeface="Segoe UI"/>
              </a:rPr>
              <a:t>[3]</a:t>
            </a:r>
          </a:p>
        </p:txBody>
      </p:sp>
      <p:pic>
        <p:nvPicPr>
          <p:cNvPr id="11" name="Picture 10" descr="image.png"/>
          <p:cNvPicPr>
            <a:picLocks noChangeAspect="1"/>
          </p:cNvPicPr>
          <p:nvPr/>
        </p:nvPicPr>
        <p:blipFill>
          <a:blip r:embed="rId5"/>
          <a:stretch>
            <a:fillRect/>
          </a:stretch>
        </p:blipFill>
        <p:spPr>
          <a:xfrm>
            <a:off x="8716975" y="4443984"/>
            <a:ext cx="2377440" cy="2560320"/>
          </a:xfrm>
          <a:prstGeom prst="rect">
            <a:avLst/>
          </a:prstGeom>
        </p:spPr>
      </p:pic>
      <p:sp>
        <p:nvSpPr>
          <p:cNvPr id="12" name="TextBox 11"/>
          <p:cNvSpPr txBox="1"/>
          <p:nvPr/>
        </p:nvSpPr>
        <p:spPr>
          <a:xfrm>
            <a:off x="10789920" y="4876224"/>
            <a:ext cx="457200" cy="274320"/>
          </a:xfrm>
          <a:prstGeom prst="rect">
            <a:avLst/>
          </a:prstGeom>
          <a:noFill/>
        </p:spPr>
        <p:txBody>
          <a:bodyPr wrap="none">
            <a:spAutoFit/>
          </a:bodyPr>
          <a:lstStyle/>
          <a:p>
            <a:pPr algn="r"/>
            <a:r>
              <a:rPr sz="900" b="0" i="0">
                <a:solidFill>
                  <a:srgbClr val="646469"/>
                </a:solidFill>
                <a:latin typeface="Segoe UI"/>
              </a:rPr>
              <a:t>[4]</a:t>
            </a:r>
          </a:p>
        </p:txBody>
      </p:sp>
      <p:sp>
        <p:nvSpPr>
          <p:cNvPr id="13" name="TextBox 12"/>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7 / 22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078A0"/>
          </a:solidFill>
          <a:ln>
            <a:noFill/>
          </a:ln>
        </p:spPr>
        <p:style>
          <a:lnRef idx="1">
            <a:schemeClr val="accent1"/>
          </a:lnRef>
          <a:fillRef idx="3">
            <a:schemeClr val="accent1"/>
          </a:fillRef>
          <a:effectRef idx="2">
            <a:schemeClr val="accent1"/>
          </a:effectRef>
          <a:fontRef idx="minor">
            <a:schemeClr val="lt1"/>
          </a:fontRef>
        </p:style>
        <p:txBody>
          <a:bodyPr wrap="square" lIns="640080" rtlCol="0" anchor="ctr"/>
          <a:lstStyle/>
          <a:p>
            <a:pPr algn="l"/>
            <a:r>
              <a:rPr sz="2600" b="1" i="0">
                <a:solidFill>
                  <a:srgbClr val="FFFFFF"/>
                </a:solidFill>
                <a:latin typeface="Meiryo UI"/>
              </a:rPr>
              <a:t>実験1：引張試験</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05840"/>
            <a:ext cx="11094415" cy="548640"/>
          </a:xfrm>
          <a:prstGeom prst="rect">
            <a:avLst/>
          </a:prstGeom>
          <a:noFill/>
        </p:spPr>
        <p:txBody>
          <a:bodyPr wrap="square">
            <a:spAutoFit/>
          </a:bodyPr>
          <a:lstStyle/>
          <a:p>
            <a:pPr algn="l"/>
            <a:r>
              <a:rPr sz="3000" b="1" i="0">
                <a:solidFill>
                  <a:srgbClr val="2D2D30"/>
                </a:solidFill>
                <a:latin typeface="Meiryo UI"/>
              </a:rPr>
              <a:t>DMAAmゲルの作成条件</a:t>
            </a:r>
          </a:p>
        </p:txBody>
      </p:sp>
      <p:sp>
        <p:nvSpPr>
          <p:cNvPr id="5" name="Rectangle 4"/>
          <p:cNvSpPr/>
          <p:nvPr/>
        </p:nvSpPr>
        <p:spPr>
          <a:xfrm>
            <a:off x="548640" y="1508760"/>
            <a:ext cx="228600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2286000" y="1920240"/>
          <a:ext cx="7772400" cy="2514600"/>
        </p:xfrm>
        <a:graphic>
          <a:graphicData uri="http://schemas.openxmlformats.org/drawingml/2006/table">
            <a:tbl>
              <a:tblPr firstRow="1" bandRow="1">
                <a:tableStyleId>{5C22544A-7EE6-4342-B048-85BDC9FD1C3A}</a:tableStyleId>
              </a:tblPr>
              <a:tblGrid>
                <a:gridCol w="194310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1943100">
                  <a:extLst>
                    <a:ext uri="{9D8B030D-6E8A-4147-A177-3AD203B41FA5}">
                      <a16:colId xmlns:a16="http://schemas.microsoft.com/office/drawing/2014/main" val="20003"/>
                    </a:ext>
                  </a:extLst>
                </a:gridCol>
              </a:tblGrid>
              <a:tr h="502920">
                <a:tc>
                  <a:txBody>
                    <a:bodyPr/>
                    <a:lstStyle/>
                    <a:p>
                      <a:pPr algn="ctr"/>
                      <a:endParaRPr/>
                    </a:p>
                  </a:txBody>
                  <a:tcPr>
                    <a:solidFill>
                      <a:srgbClr val="19376D"/>
                    </a:solidFill>
                  </a:tcPr>
                </a:tc>
                <a:tc>
                  <a:txBody>
                    <a:bodyPr/>
                    <a:lstStyle/>
                    <a:p>
                      <a:pPr algn="ctr"/>
                      <a:r>
                        <a:rPr sz="1100" b="1" i="0">
                          <a:solidFill>
                            <a:srgbClr val="FFFFFF"/>
                          </a:solidFill>
                          <a:latin typeface="Meiryo UI"/>
                        </a:rPr>
                        <a:t>DMAAm 2 [mol/L]</a:t>
                      </a:r>
                    </a:p>
                  </a:txBody>
                  <a:tcPr>
                    <a:solidFill>
                      <a:srgbClr val="19376D"/>
                    </a:solidFill>
                  </a:tcPr>
                </a:tc>
                <a:tc>
                  <a:txBody>
                    <a:bodyPr/>
                    <a:lstStyle/>
                    <a:p>
                      <a:pPr algn="ctr"/>
                      <a:r>
                        <a:rPr sz="1100" b="1" i="0">
                          <a:solidFill>
                            <a:srgbClr val="FFFFFF"/>
                          </a:solidFill>
                          <a:latin typeface="Meiryo UI"/>
                        </a:rPr>
                        <a:t>DMAAm 3 [mol/L]</a:t>
                      </a:r>
                    </a:p>
                  </a:txBody>
                  <a:tcPr>
                    <a:solidFill>
                      <a:srgbClr val="19376D"/>
                    </a:solidFill>
                  </a:tcPr>
                </a:tc>
                <a:tc>
                  <a:txBody>
                    <a:bodyPr/>
                    <a:lstStyle/>
                    <a:p>
                      <a:pPr algn="ctr"/>
                      <a:r>
                        <a:rPr sz="1100" b="1" i="0">
                          <a:solidFill>
                            <a:srgbClr val="FFFFFF"/>
                          </a:solidFill>
                          <a:latin typeface="Meiryo UI"/>
                        </a:rPr>
                        <a:t>DMAAm 4 [mol/L]</a:t>
                      </a:r>
                    </a:p>
                  </a:txBody>
                  <a:tcPr>
                    <a:solidFill>
                      <a:srgbClr val="19376D"/>
                    </a:solidFill>
                  </a:tcPr>
                </a:tc>
                <a:extLst>
                  <a:ext uri="{0D108BD9-81ED-4DB2-BD59-A6C34878D82A}">
                    <a16:rowId xmlns:a16="http://schemas.microsoft.com/office/drawing/2014/main" val="10000"/>
                  </a:ext>
                </a:extLst>
              </a:tr>
              <a:tr h="502920">
                <a:tc>
                  <a:txBody>
                    <a:bodyPr/>
                    <a:lstStyle/>
                    <a:p>
                      <a:pPr algn="l"/>
                      <a:r>
                        <a:rPr sz="1100" b="0" i="0">
                          <a:solidFill>
                            <a:srgbClr val="2D2D30"/>
                          </a:solidFill>
                          <a:latin typeface="Meiryo UI"/>
                        </a:rPr>
                        <a:t>イオン液体 [g]</a:t>
                      </a:r>
                    </a:p>
                  </a:txBody>
                  <a:tcPr>
                    <a:solidFill>
                      <a:srgbClr val="FFFFFF"/>
                    </a:solidFill>
                  </a:tcPr>
                </a:tc>
                <a:tc>
                  <a:txBody>
                    <a:bodyPr/>
                    <a:lstStyle/>
                    <a:p>
                      <a:pPr algn="ctr"/>
                      <a:r>
                        <a:rPr sz="1100" b="0" i="0">
                          <a:solidFill>
                            <a:srgbClr val="2D2D30"/>
                          </a:solidFill>
                          <a:latin typeface="Meiryo UI"/>
                        </a:rPr>
                        <a:t>13.597</a:t>
                      </a:r>
                    </a:p>
                  </a:txBody>
                  <a:tcPr>
                    <a:solidFill>
                      <a:srgbClr val="FFFFFF"/>
                    </a:solidFill>
                  </a:tcPr>
                </a:tc>
                <a:tc>
                  <a:txBody>
                    <a:bodyPr/>
                    <a:lstStyle/>
                    <a:p>
                      <a:pPr algn="ctr"/>
                      <a:r>
                        <a:rPr sz="1100" b="0" i="0">
                          <a:solidFill>
                            <a:srgbClr val="2D2D30"/>
                          </a:solidFill>
                          <a:latin typeface="Meiryo UI"/>
                        </a:rPr>
                        <a:t>13.607</a:t>
                      </a:r>
                    </a:p>
                  </a:txBody>
                  <a:tcPr>
                    <a:solidFill>
                      <a:srgbClr val="FFFFFF"/>
                    </a:solidFill>
                  </a:tcPr>
                </a:tc>
                <a:tc>
                  <a:txBody>
                    <a:bodyPr/>
                    <a:lstStyle/>
                    <a:p>
                      <a:pPr algn="ctr"/>
                      <a:r>
                        <a:rPr sz="1100" b="0" i="0">
                          <a:solidFill>
                            <a:srgbClr val="2D2D30"/>
                          </a:solidFill>
                          <a:latin typeface="Meiryo UI"/>
                        </a:rPr>
                        <a:t>13.620</a:t>
                      </a:r>
                    </a:p>
                  </a:txBody>
                  <a:tcPr>
                    <a:solidFill>
                      <a:srgbClr val="FFFFFF"/>
                    </a:solidFill>
                  </a:tcPr>
                </a:tc>
                <a:extLst>
                  <a:ext uri="{0D108BD9-81ED-4DB2-BD59-A6C34878D82A}">
                    <a16:rowId xmlns:a16="http://schemas.microsoft.com/office/drawing/2014/main" val="10001"/>
                  </a:ext>
                </a:extLst>
              </a:tr>
              <a:tr h="502920">
                <a:tc>
                  <a:txBody>
                    <a:bodyPr/>
                    <a:lstStyle/>
                    <a:p>
                      <a:pPr algn="l"/>
                      <a:r>
                        <a:rPr sz="1100" b="0" i="0">
                          <a:solidFill>
                            <a:srgbClr val="2D2D30"/>
                          </a:solidFill>
                          <a:latin typeface="Meiryo UI"/>
                        </a:rPr>
                        <a:t>架橋剤 [g]</a:t>
                      </a:r>
                    </a:p>
                  </a:txBody>
                  <a:tcPr>
                    <a:solidFill>
                      <a:srgbClr val="EBF0F8"/>
                    </a:solidFill>
                  </a:tcPr>
                </a:tc>
                <a:tc>
                  <a:txBody>
                    <a:bodyPr/>
                    <a:lstStyle/>
                    <a:p>
                      <a:pPr algn="ctr"/>
                      <a:r>
                        <a:rPr sz="1100" b="0" i="0">
                          <a:solidFill>
                            <a:srgbClr val="2D2D30"/>
                          </a:solidFill>
                          <a:latin typeface="Meiryo UI"/>
                        </a:rPr>
                        <a:t>0.061</a:t>
                      </a:r>
                    </a:p>
                  </a:txBody>
                  <a:tcPr>
                    <a:solidFill>
                      <a:srgbClr val="EBF0F8"/>
                    </a:solidFill>
                  </a:tcPr>
                </a:tc>
                <a:tc>
                  <a:txBody>
                    <a:bodyPr/>
                    <a:lstStyle/>
                    <a:p>
                      <a:pPr algn="ctr"/>
                      <a:r>
                        <a:rPr sz="1100" b="0" i="0">
                          <a:solidFill>
                            <a:srgbClr val="2D2D30"/>
                          </a:solidFill>
                          <a:latin typeface="Meiryo UI"/>
                        </a:rPr>
                        <a:t>0.061</a:t>
                      </a:r>
                    </a:p>
                  </a:txBody>
                  <a:tcPr>
                    <a:solidFill>
                      <a:srgbClr val="EBF0F8"/>
                    </a:solidFill>
                  </a:tcPr>
                </a:tc>
                <a:tc>
                  <a:txBody>
                    <a:bodyPr/>
                    <a:lstStyle/>
                    <a:p>
                      <a:pPr algn="ctr"/>
                      <a:r>
                        <a:rPr sz="1100" b="0" i="0">
                          <a:solidFill>
                            <a:srgbClr val="2D2D30"/>
                          </a:solidFill>
                          <a:latin typeface="Meiryo UI"/>
                        </a:rPr>
                        <a:t>0.061</a:t>
                      </a:r>
                    </a:p>
                  </a:txBody>
                  <a:tcPr>
                    <a:solidFill>
                      <a:srgbClr val="EBF0F8"/>
                    </a:solidFill>
                  </a:tcPr>
                </a:tc>
                <a:extLst>
                  <a:ext uri="{0D108BD9-81ED-4DB2-BD59-A6C34878D82A}">
                    <a16:rowId xmlns:a16="http://schemas.microsoft.com/office/drawing/2014/main" val="10002"/>
                  </a:ext>
                </a:extLst>
              </a:tr>
              <a:tr h="502920">
                <a:tc>
                  <a:txBody>
                    <a:bodyPr/>
                    <a:lstStyle/>
                    <a:p>
                      <a:pPr algn="l"/>
                      <a:r>
                        <a:rPr sz="1100" b="0" i="0">
                          <a:solidFill>
                            <a:srgbClr val="2D2D30"/>
                          </a:solidFill>
                          <a:latin typeface="Meiryo UI"/>
                        </a:rPr>
                        <a:t>モノマー [g]</a:t>
                      </a:r>
                    </a:p>
                  </a:txBody>
                  <a:tcPr>
                    <a:solidFill>
                      <a:srgbClr val="FFFFFF"/>
                    </a:solidFill>
                  </a:tcPr>
                </a:tc>
                <a:tc>
                  <a:txBody>
                    <a:bodyPr/>
                    <a:lstStyle/>
                    <a:p>
                      <a:pPr algn="ctr"/>
                      <a:r>
                        <a:rPr sz="1100" b="0" i="0">
                          <a:solidFill>
                            <a:srgbClr val="2D2D30"/>
                          </a:solidFill>
                          <a:latin typeface="Meiryo UI"/>
                        </a:rPr>
                        <a:t>1.983</a:t>
                      </a:r>
                    </a:p>
                  </a:txBody>
                  <a:tcPr>
                    <a:solidFill>
                      <a:srgbClr val="FFFFFF"/>
                    </a:solidFill>
                  </a:tcPr>
                </a:tc>
                <a:tc>
                  <a:txBody>
                    <a:bodyPr/>
                    <a:lstStyle/>
                    <a:p>
                      <a:pPr algn="ctr"/>
                      <a:r>
                        <a:rPr sz="1100" b="0" i="0">
                          <a:solidFill>
                            <a:srgbClr val="2D2D30"/>
                          </a:solidFill>
                          <a:latin typeface="Meiryo UI"/>
                        </a:rPr>
                        <a:t>2.974</a:t>
                      </a:r>
                    </a:p>
                  </a:txBody>
                  <a:tcPr>
                    <a:solidFill>
                      <a:srgbClr val="FFFFFF"/>
                    </a:solidFill>
                  </a:tcPr>
                </a:tc>
                <a:tc>
                  <a:txBody>
                    <a:bodyPr/>
                    <a:lstStyle/>
                    <a:p>
                      <a:pPr algn="ctr"/>
                      <a:r>
                        <a:rPr sz="1100" b="0" i="0">
                          <a:solidFill>
                            <a:srgbClr val="2D2D30"/>
                          </a:solidFill>
                          <a:latin typeface="Meiryo UI"/>
                        </a:rPr>
                        <a:t>3.965</a:t>
                      </a:r>
                    </a:p>
                  </a:txBody>
                  <a:tcPr>
                    <a:solidFill>
                      <a:srgbClr val="FFFFFF"/>
                    </a:solidFill>
                  </a:tcPr>
                </a:tc>
                <a:extLst>
                  <a:ext uri="{0D108BD9-81ED-4DB2-BD59-A6C34878D82A}">
                    <a16:rowId xmlns:a16="http://schemas.microsoft.com/office/drawing/2014/main" val="10003"/>
                  </a:ext>
                </a:extLst>
              </a:tr>
              <a:tr h="502920">
                <a:tc>
                  <a:txBody>
                    <a:bodyPr/>
                    <a:lstStyle/>
                    <a:p>
                      <a:pPr algn="l"/>
                      <a:r>
                        <a:rPr sz="1100" b="0" i="0">
                          <a:solidFill>
                            <a:srgbClr val="2D2D30"/>
                          </a:solidFill>
                          <a:latin typeface="Meiryo UI"/>
                        </a:rPr>
                        <a:t>開始剤 [mg]</a:t>
                      </a:r>
                    </a:p>
                  </a:txBody>
                  <a:tcPr>
                    <a:solidFill>
                      <a:srgbClr val="EBF0F8"/>
                    </a:solidFill>
                  </a:tcPr>
                </a:tc>
                <a:tc>
                  <a:txBody>
                    <a:bodyPr/>
                    <a:lstStyle/>
                    <a:p>
                      <a:pPr algn="ctr"/>
                      <a:r>
                        <a:rPr sz="1100" b="0" i="0">
                          <a:solidFill>
                            <a:srgbClr val="2D2D30"/>
                          </a:solidFill>
                          <a:latin typeface="Meiryo UI"/>
                        </a:rPr>
                        <a:t>3.0</a:t>
                      </a:r>
                    </a:p>
                  </a:txBody>
                  <a:tcPr>
                    <a:solidFill>
                      <a:srgbClr val="EBF0F8"/>
                    </a:solidFill>
                  </a:tcPr>
                </a:tc>
                <a:tc>
                  <a:txBody>
                    <a:bodyPr/>
                    <a:lstStyle/>
                    <a:p>
                      <a:pPr algn="ctr"/>
                      <a:r>
                        <a:rPr sz="1100" b="0" i="0">
                          <a:solidFill>
                            <a:srgbClr val="2D2D30"/>
                          </a:solidFill>
                          <a:latin typeface="Meiryo UI"/>
                        </a:rPr>
                        <a:t>3.1</a:t>
                      </a:r>
                    </a:p>
                  </a:txBody>
                  <a:tcPr>
                    <a:solidFill>
                      <a:srgbClr val="EBF0F8"/>
                    </a:solidFill>
                  </a:tcPr>
                </a:tc>
                <a:tc>
                  <a:txBody>
                    <a:bodyPr/>
                    <a:lstStyle/>
                    <a:p>
                      <a:pPr algn="ctr"/>
                      <a:r>
                        <a:rPr sz="1100" b="0" i="0">
                          <a:solidFill>
                            <a:srgbClr val="2D2D30"/>
                          </a:solidFill>
                          <a:latin typeface="Meiryo UI"/>
                        </a:rPr>
                        <a:t>3.1</a:t>
                      </a:r>
                    </a:p>
                  </a:txBody>
                  <a:tcPr>
                    <a:solidFill>
                      <a:srgbClr val="EBF0F8"/>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2286000" y="4663440"/>
            <a:ext cx="7772400" cy="365760"/>
          </a:xfrm>
          <a:prstGeom prst="rect">
            <a:avLst/>
          </a:prstGeom>
          <a:noFill/>
        </p:spPr>
        <p:txBody>
          <a:bodyPr wrap="none">
            <a:spAutoFit/>
          </a:bodyPr>
          <a:lstStyle/>
          <a:p>
            <a:pPr algn="ctr"/>
            <a:r>
              <a:rPr sz="1200" b="0" i="0">
                <a:solidFill>
                  <a:srgbClr val="646469"/>
                </a:solidFill>
                <a:latin typeface="Meiryo UI"/>
              </a:rPr>
              <a:t>表1. DMAAmゲルを作る際に実際に使用した材料の分量</a:t>
            </a:r>
          </a:p>
        </p:txBody>
      </p:sp>
      <p:sp>
        <p:nvSpPr>
          <p:cNvPr id="8" name="TextBox 7"/>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8 / 22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09164"/>
          </a:solidFill>
          <a:ln>
            <a:noFill/>
          </a:ln>
        </p:spPr>
        <p:style>
          <a:lnRef idx="1">
            <a:schemeClr val="accent1"/>
          </a:lnRef>
          <a:fillRef idx="3">
            <a:schemeClr val="accent1"/>
          </a:fillRef>
          <a:effectRef idx="2">
            <a:schemeClr val="accent1"/>
          </a:effectRef>
          <a:fontRef idx="minor">
            <a:schemeClr val="lt1"/>
          </a:fontRef>
        </p:style>
        <p:txBody>
          <a:bodyPr wrap="square" lIns="640080" rtlCol="0" anchor="ctr"/>
          <a:lstStyle/>
          <a:p>
            <a:pPr algn="l"/>
            <a:r>
              <a:rPr sz="2600" b="1" i="0">
                <a:solidFill>
                  <a:srgbClr val="FFFFFF"/>
                </a:solidFill>
                <a:latin typeface="Meiryo UI"/>
              </a:rPr>
              <a:t>実験1：引張試験結果</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2101592" y="1097280"/>
            <a:ext cx="7988510" cy="4754880"/>
          </a:xfrm>
          <a:prstGeom prst="rect">
            <a:avLst/>
          </a:prstGeom>
        </p:spPr>
      </p:pic>
      <p:sp>
        <p:nvSpPr>
          <p:cNvPr id="5" name="TextBox 4"/>
          <p:cNvSpPr txBox="1"/>
          <p:nvPr/>
        </p:nvSpPr>
        <p:spPr>
          <a:xfrm>
            <a:off x="1828800" y="6080760"/>
            <a:ext cx="8229600" cy="365760"/>
          </a:xfrm>
          <a:prstGeom prst="rect">
            <a:avLst/>
          </a:prstGeom>
          <a:noFill/>
        </p:spPr>
        <p:txBody>
          <a:bodyPr wrap="none">
            <a:spAutoFit/>
          </a:bodyPr>
          <a:lstStyle/>
          <a:p>
            <a:pPr algn="ctr"/>
            <a:r>
              <a:rPr sz="1400" b="1" i="0">
                <a:solidFill>
                  <a:srgbClr val="646469"/>
                </a:solidFill>
                <a:latin typeface="Meiryo UI"/>
              </a:rPr>
              <a:t>図3. DMAAm 2[mol/L] の力-変位曲線</a:t>
            </a:r>
          </a:p>
        </p:txBody>
      </p:sp>
      <p:sp>
        <p:nvSpPr>
          <p:cNvPr id="6" name="TextBox 5"/>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9 / 22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09164"/>
          </a:solidFill>
          <a:ln>
            <a:noFill/>
          </a:ln>
        </p:spPr>
        <p:style>
          <a:lnRef idx="1">
            <a:schemeClr val="accent1"/>
          </a:lnRef>
          <a:fillRef idx="3">
            <a:schemeClr val="accent1"/>
          </a:fillRef>
          <a:effectRef idx="2">
            <a:schemeClr val="accent1"/>
          </a:effectRef>
          <a:fontRef idx="minor">
            <a:schemeClr val="lt1"/>
          </a:fontRef>
        </p:style>
        <p:txBody>
          <a:bodyPr wrap="square" lIns="640080" rtlCol="0" anchor="ctr"/>
          <a:lstStyle/>
          <a:p>
            <a:pPr algn="l"/>
            <a:r>
              <a:rPr sz="2600" b="1" i="0">
                <a:solidFill>
                  <a:srgbClr val="FFFFFF"/>
                </a:solidFill>
                <a:latin typeface="Meiryo UI"/>
              </a:rPr>
              <a:t>実験1：引張試験結果</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2101595" y="1097280"/>
            <a:ext cx="7988504" cy="4754880"/>
          </a:xfrm>
          <a:prstGeom prst="rect">
            <a:avLst/>
          </a:prstGeom>
        </p:spPr>
      </p:pic>
      <p:sp>
        <p:nvSpPr>
          <p:cNvPr id="5" name="TextBox 4"/>
          <p:cNvSpPr txBox="1"/>
          <p:nvPr/>
        </p:nvSpPr>
        <p:spPr>
          <a:xfrm>
            <a:off x="1828800" y="6080760"/>
            <a:ext cx="8229600" cy="365760"/>
          </a:xfrm>
          <a:prstGeom prst="rect">
            <a:avLst/>
          </a:prstGeom>
          <a:noFill/>
        </p:spPr>
        <p:txBody>
          <a:bodyPr wrap="none">
            <a:spAutoFit/>
          </a:bodyPr>
          <a:lstStyle/>
          <a:p>
            <a:pPr algn="ctr"/>
            <a:r>
              <a:rPr sz="1400" b="1" i="0">
                <a:solidFill>
                  <a:srgbClr val="646469"/>
                </a:solidFill>
                <a:latin typeface="Meiryo UI"/>
              </a:rPr>
              <a:t>図4. DMAAm 3[mol/L] の力-変位曲線</a:t>
            </a:r>
          </a:p>
        </p:txBody>
      </p:sp>
      <p:sp>
        <p:nvSpPr>
          <p:cNvPr id="6" name="TextBox 5"/>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10 / 22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09164"/>
          </a:solidFill>
          <a:ln>
            <a:noFill/>
          </a:ln>
        </p:spPr>
        <p:style>
          <a:lnRef idx="1">
            <a:schemeClr val="accent1"/>
          </a:lnRef>
          <a:fillRef idx="3">
            <a:schemeClr val="accent1"/>
          </a:fillRef>
          <a:effectRef idx="2">
            <a:schemeClr val="accent1"/>
          </a:effectRef>
          <a:fontRef idx="minor">
            <a:schemeClr val="lt1"/>
          </a:fontRef>
        </p:style>
        <p:txBody>
          <a:bodyPr wrap="square" lIns="640080" rtlCol="0" anchor="ctr"/>
          <a:lstStyle/>
          <a:p>
            <a:pPr algn="l"/>
            <a:r>
              <a:rPr sz="2600" b="1" i="0">
                <a:solidFill>
                  <a:srgbClr val="FFFFFF"/>
                </a:solidFill>
                <a:latin typeface="Meiryo UI"/>
              </a:rPr>
              <a:t>実験1：引張試験結果</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2101579" y="1097280"/>
            <a:ext cx="7988537" cy="4754880"/>
          </a:xfrm>
          <a:prstGeom prst="rect">
            <a:avLst/>
          </a:prstGeom>
        </p:spPr>
      </p:pic>
      <p:sp>
        <p:nvSpPr>
          <p:cNvPr id="5" name="TextBox 4"/>
          <p:cNvSpPr txBox="1"/>
          <p:nvPr/>
        </p:nvSpPr>
        <p:spPr>
          <a:xfrm>
            <a:off x="1828800" y="6080760"/>
            <a:ext cx="8229600" cy="365760"/>
          </a:xfrm>
          <a:prstGeom prst="rect">
            <a:avLst/>
          </a:prstGeom>
          <a:noFill/>
        </p:spPr>
        <p:txBody>
          <a:bodyPr wrap="none">
            <a:spAutoFit/>
          </a:bodyPr>
          <a:lstStyle/>
          <a:p>
            <a:pPr algn="ctr"/>
            <a:r>
              <a:rPr sz="1400" b="1" i="0">
                <a:solidFill>
                  <a:srgbClr val="646469"/>
                </a:solidFill>
                <a:latin typeface="Meiryo UI"/>
              </a:rPr>
              <a:t>図5. DMAAm 4[mol/L] の力-変位曲線</a:t>
            </a:r>
          </a:p>
        </p:txBody>
      </p:sp>
      <p:sp>
        <p:nvSpPr>
          <p:cNvPr id="6" name="TextBox 5"/>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11 / 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09164"/>
          </a:solidFill>
          <a:ln>
            <a:noFill/>
          </a:ln>
        </p:spPr>
        <p:style>
          <a:lnRef idx="1">
            <a:schemeClr val="accent1"/>
          </a:lnRef>
          <a:fillRef idx="3">
            <a:schemeClr val="accent1"/>
          </a:fillRef>
          <a:effectRef idx="2">
            <a:schemeClr val="accent1"/>
          </a:effectRef>
          <a:fontRef idx="minor">
            <a:schemeClr val="lt1"/>
          </a:fontRef>
        </p:style>
        <p:txBody>
          <a:bodyPr wrap="square" lIns="640080" rtlCol="0" anchor="ctr"/>
          <a:lstStyle/>
          <a:p>
            <a:pPr algn="l"/>
            <a:r>
              <a:rPr sz="2600" b="1" i="0">
                <a:solidFill>
                  <a:srgbClr val="FFFFFF"/>
                </a:solidFill>
                <a:latin typeface="Meiryo UI"/>
              </a:rPr>
              <a:t>実験1：引張試験結果</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1990462" y="1097280"/>
            <a:ext cx="8210770" cy="4754880"/>
          </a:xfrm>
          <a:prstGeom prst="rect">
            <a:avLst/>
          </a:prstGeom>
        </p:spPr>
      </p:pic>
      <p:sp>
        <p:nvSpPr>
          <p:cNvPr id="5" name="TextBox 4"/>
          <p:cNvSpPr txBox="1"/>
          <p:nvPr/>
        </p:nvSpPr>
        <p:spPr>
          <a:xfrm>
            <a:off x="1828800" y="6080760"/>
            <a:ext cx="8229600" cy="365760"/>
          </a:xfrm>
          <a:prstGeom prst="rect">
            <a:avLst/>
          </a:prstGeom>
          <a:noFill/>
        </p:spPr>
        <p:txBody>
          <a:bodyPr wrap="none">
            <a:spAutoFit/>
          </a:bodyPr>
          <a:lstStyle/>
          <a:p>
            <a:pPr algn="ctr"/>
            <a:r>
              <a:rPr sz="1400" b="1" i="0">
                <a:solidFill>
                  <a:srgbClr val="646469"/>
                </a:solidFill>
                <a:latin typeface="Meiryo UI"/>
              </a:rPr>
              <a:t>図6. DMAAm 各濃度の重ね合わせ力-変位曲線</a:t>
            </a:r>
          </a:p>
        </p:txBody>
      </p:sp>
      <p:sp>
        <p:nvSpPr>
          <p:cNvPr id="6" name="TextBox 5"/>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12 / 22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09164"/>
          </a:solidFill>
          <a:ln>
            <a:noFill/>
          </a:ln>
        </p:spPr>
        <p:style>
          <a:lnRef idx="1">
            <a:schemeClr val="accent1"/>
          </a:lnRef>
          <a:fillRef idx="3">
            <a:schemeClr val="accent1"/>
          </a:fillRef>
          <a:effectRef idx="2">
            <a:schemeClr val="accent1"/>
          </a:effectRef>
          <a:fontRef idx="minor">
            <a:schemeClr val="lt1"/>
          </a:fontRef>
        </p:style>
        <p:txBody>
          <a:bodyPr wrap="square" lIns="640080" rtlCol="0" anchor="ctr"/>
          <a:lstStyle/>
          <a:p>
            <a:pPr algn="l"/>
            <a:r>
              <a:rPr sz="2600" b="1" i="0">
                <a:solidFill>
                  <a:srgbClr val="FFFFFF"/>
                </a:solidFill>
                <a:latin typeface="Meiryo UI"/>
              </a:rPr>
              <a:t>実験1：引張試験結果</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2727692" y="1051560"/>
            <a:ext cx="6736310" cy="5029200"/>
          </a:xfrm>
          <a:prstGeom prst="rect">
            <a:avLst/>
          </a:prstGeom>
        </p:spPr>
      </p:pic>
      <p:sp>
        <p:nvSpPr>
          <p:cNvPr id="5" name="TextBox 4"/>
          <p:cNvSpPr txBox="1"/>
          <p:nvPr/>
        </p:nvSpPr>
        <p:spPr>
          <a:xfrm>
            <a:off x="1828800" y="6080760"/>
            <a:ext cx="8229600" cy="365760"/>
          </a:xfrm>
          <a:prstGeom prst="rect">
            <a:avLst/>
          </a:prstGeom>
          <a:noFill/>
        </p:spPr>
        <p:txBody>
          <a:bodyPr wrap="none">
            <a:spAutoFit/>
          </a:bodyPr>
          <a:lstStyle/>
          <a:p>
            <a:pPr algn="ctr"/>
            <a:r>
              <a:rPr sz="1400" b="1" i="0">
                <a:solidFill>
                  <a:srgbClr val="646469"/>
                </a:solidFill>
                <a:latin typeface="Meiryo UI"/>
              </a:rPr>
              <a:t>図7. DMAAm 濃度別ピーク荷重の箱ひげ図</a:t>
            </a:r>
          </a:p>
        </p:txBody>
      </p:sp>
      <p:sp>
        <p:nvSpPr>
          <p:cNvPr id="6" name="TextBox 5"/>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13 / 22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B45F14"/>
          </a:solidFill>
          <a:ln>
            <a:noFill/>
          </a:ln>
        </p:spPr>
        <p:style>
          <a:lnRef idx="1">
            <a:schemeClr val="accent1"/>
          </a:lnRef>
          <a:fillRef idx="3">
            <a:schemeClr val="accent1"/>
          </a:fillRef>
          <a:effectRef idx="2">
            <a:schemeClr val="accent1"/>
          </a:effectRef>
          <a:fontRef idx="minor">
            <a:schemeClr val="lt1"/>
          </a:fontRef>
        </p:style>
        <p:txBody>
          <a:bodyPr wrap="square" lIns="640080" rtlCol="0" anchor="ctr"/>
          <a:lstStyle/>
          <a:p>
            <a:pPr algn="l"/>
            <a:r>
              <a:rPr sz="2600" b="1" i="0">
                <a:solidFill>
                  <a:srgbClr val="FFFFFF"/>
                </a:solidFill>
                <a:latin typeface="Meiryo UI"/>
              </a:rPr>
              <a:t>考察1：引張試験</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05840"/>
            <a:ext cx="11094415" cy="548640"/>
          </a:xfrm>
          <a:prstGeom prst="rect">
            <a:avLst/>
          </a:prstGeom>
          <a:noFill/>
        </p:spPr>
        <p:txBody>
          <a:bodyPr wrap="square">
            <a:spAutoFit/>
          </a:bodyPr>
          <a:lstStyle/>
          <a:p>
            <a:pPr algn="l"/>
            <a:r>
              <a:rPr sz="3000" b="1" i="0">
                <a:solidFill>
                  <a:srgbClr val="2D2D30"/>
                </a:solidFill>
                <a:latin typeface="Meiryo UI"/>
              </a:rPr>
              <a:t>引張試験に関する考察</a:t>
            </a:r>
          </a:p>
        </p:txBody>
      </p:sp>
      <p:sp>
        <p:nvSpPr>
          <p:cNvPr id="5" name="Rectangle 4"/>
          <p:cNvSpPr/>
          <p:nvPr/>
        </p:nvSpPr>
        <p:spPr>
          <a:xfrm>
            <a:off x="548640" y="1508760"/>
            <a:ext cx="228600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1737360"/>
            <a:ext cx="11094415" cy="3200400"/>
          </a:xfrm>
          <a:prstGeom prst="roundRect">
            <a:avLst>
              <a:gd name="adj" fmla="val 2000"/>
            </a:avLst>
          </a:prstGeom>
          <a:solidFill>
            <a:srgbClr val="F5F7FA"/>
          </a:solidFill>
          <a:ln w="9525">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920240"/>
            <a:ext cx="10545775" cy="2926080"/>
          </a:xfrm>
          <a:prstGeom prst="rect">
            <a:avLst/>
          </a:prstGeom>
          <a:noFill/>
        </p:spPr>
        <p:txBody>
          <a:bodyPr wrap="square">
            <a:spAutoFit/>
          </a:bodyPr>
          <a:lstStyle/>
          <a:p>
            <a:pPr>
              <a:lnSpc>
                <a:spcPts val="2550"/>
              </a:lnSpc>
              <a:spcBef>
                <a:spcPts val="300"/>
              </a:spcBef>
              <a:spcAft>
                <a:spcPts val="300"/>
              </a:spcAft>
            </a:pPr>
            <a:r>
              <a:rPr sz="1500" b="0" i="0">
                <a:solidFill>
                  <a:srgbClr val="2D2D30"/>
                </a:solidFill>
                <a:latin typeface="Meiryo UI"/>
              </a:rPr>
              <a:t>図3～図6より、モノマーが2[mol/L]から4[mol/L]の濃度範囲では、モノマーの濃度を大きくするほど強度が高くなることがわかった。</a:t>
            </a:r>
          </a:p>
          <a:p>
            <a:pPr>
              <a:lnSpc>
                <a:spcPts val="2550"/>
              </a:lnSpc>
              <a:spcBef>
                <a:spcPts val="300"/>
              </a:spcBef>
              <a:spcAft>
                <a:spcPts val="300"/>
              </a:spcAft>
            </a:pPr>
            <a:r>
              <a:rPr sz="1500" b="0" i="0">
                <a:solidFill>
                  <a:srgbClr val="2D2D30"/>
                </a:solidFill>
                <a:latin typeface="Meiryo UI"/>
              </a:rPr>
              <a:t>モノマーが2[mol/L]の場合、試験片を作成する際や実際に引張試験をする際にも、その脆さから操作が難しく、センサーへの応用はかなり限定的な場面に限られると考えられる。</a:t>
            </a:r>
          </a:p>
          <a:p>
            <a:pPr>
              <a:lnSpc>
                <a:spcPts val="2550"/>
              </a:lnSpc>
              <a:spcBef>
                <a:spcPts val="300"/>
              </a:spcBef>
              <a:spcAft>
                <a:spcPts val="300"/>
              </a:spcAft>
            </a:pPr>
            <a:r>
              <a:rPr sz="1500" b="0" i="0">
                <a:solidFill>
                  <a:srgbClr val="2D2D30"/>
                </a:solidFill>
                <a:latin typeface="Meiryo UI"/>
              </a:rPr>
              <a:t>モノマー濃度が4[mol/L]のものが最も強度が高かったので、今回の実験ではこの濃度のDMAAmゲルを使用して実験2を行った。</a:t>
            </a:r>
          </a:p>
        </p:txBody>
      </p:sp>
      <p:sp>
        <p:nvSpPr>
          <p:cNvPr id="8" name="TextBox 7"/>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14 / 22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078A0"/>
          </a:solidFill>
          <a:ln>
            <a:noFill/>
          </a:ln>
        </p:spPr>
        <p:style>
          <a:lnRef idx="1">
            <a:schemeClr val="accent1"/>
          </a:lnRef>
          <a:fillRef idx="3">
            <a:schemeClr val="accent1"/>
          </a:fillRef>
          <a:effectRef idx="2">
            <a:schemeClr val="accent1"/>
          </a:effectRef>
          <a:fontRef idx="minor">
            <a:schemeClr val="lt1"/>
          </a:fontRef>
        </p:style>
        <p:txBody>
          <a:bodyPr wrap="square" lIns="640080" rtlCol="0" anchor="ctr"/>
          <a:lstStyle/>
          <a:p>
            <a:pPr algn="l"/>
            <a:r>
              <a:rPr sz="2600" b="1" i="0">
                <a:solidFill>
                  <a:srgbClr val="FFFFFF"/>
                </a:solidFill>
                <a:latin typeface="Meiryo UI"/>
              </a:rPr>
              <a:t>実験2：インピーダンス測定</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05840"/>
            <a:ext cx="11094415" cy="548640"/>
          </a:xfrm>
          <a:prstGeom prst="rect">
            <a:avLst/>
          </a:prstGeom>
          <a:noFill/>
        </p:spPr>
        <p:txBody>
          <a:bodyPr wrap="square">
            <a:spAutoFit/>
          </a:bodyPr>
          <a:lstStyle/>
          <a:p>
            <a:pPr algn="l"/>
            <a:r>
              <a:rPr sz="3000" b="1" i="0">
                <a:solidFill>
                  <a:srgbClr val="2D2D30"/>
                </a:solidFill>
                <a:latin typeface="Meiryo UI"/>
              </a:rPr>
              <a:t>測定条件</a:t>
            </a:r>
          </a:p>
        </p:txBody>
      </p:sp>
      <p:sp>
        <p:nvSpPr>
          <p:cNvPr id="5" name="Rectangle 4"/>
          <p:cNvSpPr/>
          <p:nvPr/>
        </p:nvSpPr>
        <p:spPr>
          <a:xfrm>
            <a:off x="548640" y="1508760"/>
            <a:ext cx="228600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645920"/>
            <a:ext cx="11094415" cy="457200"/>
          </a:xfrm>
          <a:prstGeom prst="rect">
            <a:avLst/>
          </a:prstGeom>
          <a:noFill/>
        </p:spPr>
        <p:txBody>
          <a:bodyPr wrap="square">
            <a:spAutoFit/>
          </a:bodyPr>
          <a:lstStyle/>
          <a:p>
            <a:r>
              <a:rPr sz="1400" b="0" i="0">
                <a:solidFill>
                  <a:srgbClr val="2D2D30"/>
                </a:solidFill>
                <a:latin typeface="Meiryo UI"/>
              </a:rPr>
              <a:t>シャーレに作成したDMAAmゲル 4[mol/L]について、Analog Discovery 3を用いて加圧によるインピーダンスの変化を測定した。</a:t>
            </a:r>
          </a:p>
        </p:txBody>
      </p:sp>
      <p:graphicFrame>
        <p:nvGraphicFramePr>
          <p:cNvPr id="7" name="Table 6"/>
          <p:cNvGraphicFramePr>
            <a:graphicFrameLocks noGrp="1"/>
          </p:cNvGraphicFramePr>
          <p:nvPr/>
        </p:nvGraphicFramePr>
        <p:xfrm>
          <a:off x="1371600" y="2286000"/>
          <a:ext cx="9418320" cy="3657600"/>
        </p:xfrm>
        <a:graphic>
          <a:graphicData uri="http://schemas.openxmlformats.org/drawingml/2006/table">
            <a:tbl>
              <a:tblPr firstRow="1" bandRow="1">
                <a:tableStyleId>{5C22544A-7EE6-4342-B048-85BDC9FD1C3A}</a:tableStyleId>
              </a:tblPr>
              <a:tblGrid>
                <a:gridCol w="3139440">
                  <a:extLst>
                    <a:ext uri="{9D8B030D-6E8A-4147-A177-3AD203B41FA5}">
                      <a16:colId xmlns:a16="http://schemas.microsoft.com/office/drawing/2014/main" val="20000"/>
                    </a:ext>
                  </a:extLst>
                </a:gridCol>
                <a:gridCol w="3139440">
                  <a:extLst>
                    <a:ext uri="{9D8B030D-6E8A-4147-A177-3AD203B41FA5}">
                      <a16:colId xmlns:a16="http://schemas.microsoft.com/office/drawing/2014/main" val="20001"/>
                    </a:ext>
                  </a:extLst>
                </a:gridCol>
                <a:gridCol w="3139440">
                  <a:extLst>
                    <a:ext uri="{9D8B030D-6E8A-4147-A177-3AD203B41FA5}">
                      <a16:colId xmlns:a16="http://schemas.microsoft.com/office/drawing/2014/main" val="20002"/>
                    </a:ext>
                  </a:extLst>
                </a:gridCol>
              </a:tblGrid>
              <a:tr h="457200">
                <a:tc>
                  <a:txBody>
                    <a:bodyPr/>
                    <a:lstStyle/>
                    <a:p>
                      <a:pPr algn="ctr"/>
                      <a:r>
                        <a:rPr sz="1100" b="1" i="0">
                          <a:solidFill>
                            <a:srgbClr val="FFFFFF"/>
                          </a:solidFill>
                          <a:latin typeface="Meiryo UI"/>
                        </a:rPr>
                        <a:t>項目</a:t>
                      </a:r>
                    </a:p>
                  </a:txBody>
                  <a:tcPr>
                    <a:solidFill>
                      <a:srgbClr val="19376D"/>
                    </a:solidFill>
                  </a:tcPr>
                </a:tc>
                <a:tc>
                  <a:txBody>
                    <a:bodyPr/>
                    <a:lstStyle/>
                    <a:p>
                      <a:pPr algn="ctr"/>
                      <a:r>
                        <a:rPr sz="1100" b="1" i="0">
                          <a:solidFill>
                            <a:srgbClr val="FFFFFF"/>
                          </a:solidFill>
                          <a:latin typeface="Meiryo UI"/>
                        </a:rPr>
                        <a:t>条件・設定値</a:t>
                      </a:r>
                    </a:p>
                  </a:txBody>
                  <a:tcPr>
                    <a:solidFill>
                      <a:srgbClr val="19376D"/>
                    </a:solidFill>
                  </a:tcPr>
                </a:tc>
                <a:tc>
                  <a:txBody>
                    <a:bodyPr/>
                    <a:lstStyle/>
                    <a:p>
                      <a:pPr algn="ctr"/>
                      <a:r>
                        <a:rPr sz="1100" b="1" i="0">
                          <a:solidFill>
                            <a:srgbClr val="FFFFFF"/>
                          </a:solidFill>
                          <a:latin typeface="Meiryo UI"/>
                        </a:rPr>
                        <a:t>備考</a:t>
                      </a:r>
                    </a:p>
                  </a:txBody>
                  <a:tcPr>
                    <a:solidFill>
                      <a:srgbClr val="19376D"/>
                    </a:solidFill>
                  </a:tcPr>
                </a:tc>
                <a:extLst>
                  <a:ext uri="{0D108BD9-81ED-4DB2-BD59-A6C34878D82A}">
                    <a16:rowId xmlns:a16="http://schemas.microsoft.com/office/drawing/2014/main" val="10000"/>
                  </a:ext>
                </a:extLst>
              </a:tr>
              <a:tr h="457200">
                <a:tc>
                  <a:txBody>
                    <a:bodyPr/>
                    <a:lstStyle/>
                    <a:p>
                      <a:pPr algn="l"/>
                      <a:r>
                        <a:rPr sz="1100" b="0" i="0">
                          <a:solidFill>
                            <a:srgbClr val="2D2D30"/>
                          </a:solidFill>
                          <a:latin typeface="Meiryo UI"/>
                        </a:rPr>
                        <a:t>試料</a:t>
                      </a:r>
                    </a:p>
                  </a:txBody>
                  <a:tcPr>
                    <a:solidFill>
                      <a:srgbClr val="FFFFFF"/>
                    </a:solidFill>
                  </a:tcPr>
                </a:tc>
                <a:tc>
                  <a:txBody>
                    <a:bodyPr/>
                    <a:lstStyle/>
                    <a:p>
                      <a:pPr algn="ctr"/>
                      <a:r>
                        <a:rPr sz="1100" b="0" i="0">
                          <a:solidFill>
                            <a:srgbClr val="2D2D30"/>
                          </a:solidFill>
                          <a:latin typeface="Meiryo UI"/>
                        </a:rPr>
                        <a:t>DMAAmゲル (4 mol/L)</a:t>
                      </a:r>
                    </a:p>
                  </a:txBody>
                  <a:tcPr>
                    <a:solidFill>
                      <a:srgbClr val="FFFFFF"/>
                    </a:solidFill>
                  </a:tcPr>
                </a:tc>
                <a:tc>
                  <a:txBody>
                    <a:bodyPr/>
                    <a:lstStyle/>
                    <a:p>
                      <a:pPr algn="ctr"/>
                      <a:r>
                        <a:rPr sz="1100" b="0" i="0">
                          <a:solidFill>
                            <a:srgbClr val="2D2D30"/>
                          </a:solidFill>
                          <a:latin typeface="Meiryo UI"/>
                        </a:rPr>
                        <a:t>初期厚さ: 6 mm</a:t>
                      </a:r>
                    </a:p>
                  </a:txBody>
                  <a:tcPr>
                    <a:solidFill>
                      <a:srgbClr val="FFFFFF"/>
                    </a:solidFill>
                  </a:tcPr>
                </a:tc>
                <a:extLst>
                  <a:ext uri="{0D108BD9-81ED-4DB2-BD59-A6C34878D82A}">
                    <a16:rowId xmlns:a16="http://schemas.microsoft.com/office/drawing/2014/main" val="10001"/>
                  </a:ext>
                </a:extLst>
              </a:tr>
              <a:tr h="457200">
                <a:tc>
                  <a:txBody>
                    <a:bodyPr/>
                    <a:lstStyle/>
                    <a:p>
                      <a:pPr algn="l"/>
                      <a:r>
                        <a:rPr sz="1100" b="0" i="0">
                          <a:solidFill>
                            <a:srgbClr val="2D2D30"/>
                          </a:solidFill>
                          <a:latin typeface="Meiryo UI"/>
                        </a:rPr>
                        <a:t>電極</a:t>
                      </a:r>
                    </a:p>
                  </a:txBody>
                  <a:tcPr>
                    <a:solidFill>
                      <a:srgbClr val="EBF0F8"/>
                    </a:solidFill>
                  </a:tcPr>
                </a:tc>
                <a:tc>
                  <a:txBody>
                    <a:bodyPr/>
                    <a:lstStyle/>
                    <a:p>
                      <a:pPr algn="ctr"/>
                      <a:r>
                        <a:rPr sz="1100" b="0" i="0">
                          <a:solidFill>
                            <a:srgbClr val="2D2D30"/>
                          </a:solidFill>
                          <a:latin typeface="Meiryo UI"/>
                        </a:rPr>
                        <a:t>アルミニウム箔</a:t>
                      </a:r>
                    </a:p>
                  </a:txBody>
                  <a:tcPr>
                    <a:solidFill>
                      <a:srgbClr val="EBF0F8"/>
                    </a:solidFill>
                  </a:tcPr>
                </a:tc>
                <a:tc>
                  <a:txBody>
                    <a:bodyPr/>
                    <a:lstStyle/>
                    <a:p>
                      <a:pPr algn="ctr"/>
                      <a:r>
                        <a:rPr sz="1100" b="0" i="0">
                          <a:solidFill>
                            <a:srgbClr val="2D2D30"/>
                          </a:solidFill>
                          <a:latin typeface="Meiryo UI"/>
                        </a:rPr>
                        <a:t>ゲル対角線上に密着貼付</a:t>
                      </a:r>
                    </a:p>
                  </a:txBody>
                  <a:tcPr>
                    <a:solidFill>
                      <a:srgbClr val="EBF0F8"/>
                    </a:solidFill>
                  </a:tcPr>
                </a:tc>
                <a:extLst>
                  <a:ext uri="{0D108BD9-81ED-4DB2-BD59-A6C34878D82A}">
                    <a16:rowId xmlns:a16="http://schemas.microsoft.com/office/drawing/2014/main" val="10002"/>
                  </a:ext>
                </a:extLst>
              </a:tr>
              <a:tr h="457200">
                <a:tc>
                  <a:txBody>
                    <a:bodyPr/>
                    <a:lstStyle/>
                    <a:p>
                      <a:pPr algn="l"/>
                      <a:r>
                        <a:rPr sz="1100" b="0" i="0">
                          <a:solidFill>
                            <a:srgbClr val="2D2D30"/>
                          </a:solidFill>
                          <a:latin typeface="Meiryo UI"/>
                        </a:rPr>
                        <a:t>測定機器</a:t>
                      </a:r>
                    </a:p>
                  </a:txBody>
                  <a:tcPr>
                    <a:solidFill>
                      <a:srgbClr val="FFFFFF"/>
                    </a:solidFill>
                  </a:tcPr>
                </a:tc>
                <a:tc>
                  <a:txBody>
                    <a:bodyPr/>
                    <a:lstStyle/>
                    <a:p>
                      <a:pPr algn="ctr"/>
                      <a:r>
                        <a:rPr sz="1100" b="0" i="0">
                          <a:solidFill>
                            <a:srgbClr val="2D2D30"/>
                          </a:solidFill>
                          <a:latin typeface="Meiryo UI"/>
                        </a:rPr>
                        <a:t>Analog Discovery 3</a:t>
                      </a:r>
                    </a:p>
                  </a:txBody>
                  <a:tcPr>
                    <a:solidFill>
                      <a:srgbClr val="FFFFFF"/>
                    </a:solidFill>
                  </a:tcPr>
                </a:tc>
                <a:tc>
                  <a:txBody>
                    <a:bodyPr/>
                    <a:lstStyle/>
                    <a:p>
                      <a:pPr algn="ctr"/>
                      <a:r>
                        <a:rPr sz="1100" b="0" i="0">
                          <a:solidFill>
                            <a:srgbClr val="2D2D30"/>
                          </a:solidFill>
                          <a:latin typeface="Meiryo UI"/>
                        </a:rPr>
                        <a:t>インピーダンスアナライザ機能</a:t>
                      </a:r>
                    </a:p>
                  </a:txBody>
                  <a:tcPr>
                    <a:solidFill>
                      <a:srgbClr val="FFFFFF"/>
                    </a:solidFill>
                  </a:tcPr>
                </a:tc>
                <a:extLst>
                  <a:ext uri="{0D108BD9-81ED-4DB2-BD59-A6C34878D82A}">
                    <a16:rowId xmlns:a16="http://schemas.microsoft.com/office/drawing/2014/main" val="10003"/>
                  </a:ext>
                </a:extLst>
              </a:tr>
              <a:tr h="457200">
                <a:tc>
                  <a:txBody>
                    <a:bodyPr/>
                    <a:lstStyle/>
                    <a:p>
                      <a:pPr algn="l"/>
                      <a:r>
                        <a:rPr sz="1100" b="0" i="0">
                          <a:solidFill>
                            <a:srgbClr val="2D2D30"/>
                          </a:solidFill>
                          <a:latin typeface="Meiryo UI"/>
                        </a:rPr>
                        <a:t>周波数範囲</a:t>
                      </a:r>
                    </a:p>
                  </a:txBody>
                  <a:tcPr>
                    <a:solidFill>
                      <a:srgbClr val="EBF0F8"/>
                    </a:solidFill>
                  </a:tcPr>
                </a:tc>
                <a:tc>
                  <a:txBody>
                    <a:bodyPr/>
                    <a:lstStyle/>
                    <a:p>
                      <a:pPr algn="ctr"/>
                      <a:r>
                        <a:rPr sz="1100" b="0" i="0">
                          <a:solidFill>
                            <a:srgbClr val="2D2D30"/>
                          </a:solidFill>
                          <a:latin typeface="Meiryo UI"/>
                        </a:rPr>
                        <a:t>1 kHz ～ 100 kHz</a:t>
                      </a:r>
                    </a:p>
                  </a:txBody>
                  <a:tcPr>
                    <a:solidFill>
                      <a:srgbClr val="EBF0F8"/>
                    </a:solidFill>
                  </a:tcPr>
                </a:tc>
                <a:tc>
                  <a:txBody>
                    <a:bodyPr/>
                    <a:lstStyle/>
                    <a:p>
                      <a:pPr algn="ctr"/>
                      <a:endParaRPr/>
                    </a:p>
                  </a:txBody>
                  <a:tcPr>
                    <a:solidFill>
                      <a:srgbClr val="EBF0F8"/>
                    </a:solidFill>
                  </a:tcPr>
                </a:tc>
                <a:extLst>
                  <a:ext uri="{0D108BD9-81ED-4DB2-BD59-A6C34878D82A}">
                    <a16:rowId xmlns:a16="http://schemas.microsoft.com/office/drawing/2014/main" val="10004"/>
                  </a:ext>
                </a:extLst>
              </a:tr>
              <a:tr h="457200">
                <a:tc>
                  <a:txBody>
                    <a:bodyPr/>
                    <a:lstStyle/>
                    <a:p>
                      <a:pPr algn="l"/>
                      <a:r>
                        <a:rPr sz="1100" b="0" i="0">
                          <a:solidFill>
                            <a:srgbClr val="2D2D30"/>
                          </a:solidFill>
                          <a:latin typeface="Meiryo UI"/>
                        </a:rPr>
                        <a:t>印加電圧</a:t>
                      </a:r>
                    </a:p>
                  </a:txBody>
                  <a:tcPr>
                    <a:solidFill>
                      <a:srgbClr val="FFFFFF"/>
                    </a:solidFill>
                  </a:tcPr>
                </a:tc>
                <a:tc>
                  <a:txBody>
                    <a:bodyPr/>
                    <a:lstStyle/>
                    <a:p>
                      <a:pPr algn="ctr"/>
                      <a:r>
                        <a:rPr sz="1100" b="0" i="0">
                          <a:solidFill>
                            <a:srgbClr val="2D2D30"/>
                          </a:solidFill>
                          <a:latin typeface="Meiryo UI"/>
                        </a:rPr>
                        <a:t>振幅 1 V (バイアス 0 V)</a:t>
                      </a:r>
                    </a:p>
                  </a:txBody>
                  <a:tcPr>
                    <a:solidFill>
                      <a:srgbClr val="FFFFFF"/>
                    </a:solidFill>
                  </a:tcPr>
                </a:tc>
                <a:tc>
                  <a:txBody>
                    <a:bodyPr/>
                    <a:lstStyle/>
                    <a:p>
                      <a:pPr algn="ctr"/>
                      <a:endParaRPr/>
                    </a:p>
                  </a:txBody>
                  <a:tcPr>
                    <a:solidFill>
                      <a:srgbClr val="FFFFFF"/>
                    </a:solidFill>
                  </a:tcPr>
                </a:tc>
                <a:extLst>
                  <a:ext uri="{0D108BD9-81ED-4DB2-BD59-A6C34878D82A}">
                    <a16:rowId xmlns:a16="http://schemas.microsoft.com/office/drawing/2014/main" val="10005"/>
                  </a:ext>
                </a:extLst>
              </a:tr>
              <a:tr h="457200">
                <a:tc>
                  <a:txBody>
                    <a:bodyPr/>
                    <a:lstStyle/>
                    <a:p>
                      <a:pPr algn="l"/>
                      <a:r>
                        <a:rPr sz="1100" b="0" i="0">
                          <a:solidFill>
                            <a:srgbClr val="2D2D30"/>
                          </a:solidFill>
                          <a:latin typeface="Meiryo UI"/>
                        </a:rPr>
                        <a:t>掃引点数</a:t>
                      </a:r>
                    </a:p>
                  </a:txBody>
                  <a:tcPr>
                    <a:solidFill>
                      <a:srgbClr val="EBF0F8"/>
                    </a:solidFill>
                  </a:tcPr>
                </a:tc>
                <a:tc>
                  <a:txBody>
                    <a:bodyPr/>
                    <a:lstStyle/>
                    <a:p>
                      <a:pPr algn="ctr"/>
                      <a:r>
                        <a:rPr sz="1100" b="0" i="0">
                          <a:solidFill>
                            <a:srgbClr val="2D2D30"/>
                          </a:solidFill>
                          <a:latin typeface="Meiryo UI"/>
                        </a:rPr>
                        <a:t>50 点 (対数スイープ)</a:t>
                      </a:r>
                    </a:p>
                  </a:txBody>
                  <a:tcPr>
                    <a:solidFill>
                      <a:srgbClr val="EBF0F8"/>
                    </a:solidFill>
                  </a:tcPr>
                </a:tc>
                <a:tc>
                  <a:txBody>
                    <a:bodyPr/>
                    <a:lstStyle/>
                    <a:p>
                      <a:pPr algn="ctr"/>
                      <a:endParaRPr/>
                    </a:p>
                  </a:txBody>
                  <a:tcPr>
                    <a:solidFill>
                      <a:srgbClr val="EBF0F8"/>
                    </a:solidFill>
                  </a:tcPr>
                </a:tc>
                <a:extLst>
                  <a:ext uri="{0D108BD9-81ED-4DB2-BD59-A6C34878D82A}">
                    <a16:rowId xmlns:a16="http://schemas.microsoft.com/office/drawing/2014/main" val="10006"/>
                  </a:ext>
                </a:extLst>
              </a:tr>
              <a:tr h="457200">
                <a:tc>
                  <a:txBody>
                    <a:bodyPr/>
                    <a:lstStyle/>
                    <a:p>
                      <a:pPr algn="l"/>
                      <a:r>
                        <a:rPr sz="1100" b="0" i="0">
                          <a:solidFill>
                            <a:srgbClr val="2D2D30"/>
                          </a:solidFill>
                          <a:latin typeface="Meiryo UI"/>
                        </a:rPr>
                        <a:t>加圧条件</a:t>
                      </a:r>
                    </a:p>
                  </a:txBody>
                  <a:tcPr>
                    <a:solidFill>
                      <a:srgbClr val="FFFFFF"/>
                    </a:solidFill>
                  </a:tcPr>
                </a:tc>
                <a:tc>
                  <a:txBody>
                    <a:bodyPr/>
                    <a:lstStyle/>
                    <a:p>
                      <a:pPr algn="ctr"/>
                      <a:r>
                        <a:rPr sz="1100" b="0" i="0">
                          <a:solidFill>
                            <a:srgbClr val="2D2D30"/>
                          </a:solidFill>
                          <a:latin typeface="Meiryo UI"/>
                        </a:rPr>
                        <a:t>手押し (Manual Press)</a:t>
                      </a:r>
                    </a:p>
                  </a:txBody>
                  <a:tcPr>
                    <a:solidFill>
                      <a:srgbClr val="FFFFFF"/>
                    </a:solidFill>
                  </a:tcPr>
                </a:tc>
                <a:tc>
                  <a:txBody>
                    <a:bodyPr/>
                    <a:lstStyle/>
                    <a:p>
                      <a:pPr algn="ctr"/>
                      <a:r>
                        <a:rPr sz="1100" b="0" i="0">
                          <a:solidFill>
                            <a:srgbClr val="2D2D30"/>
                          </a:solidFill>
                          <a:latin typeface="Meiryo UI"/>
                        </a:rPr>
                        <a:t>定性的なインピーダンス変化を観測</a:t>
                      </a:r>
                    </a:p>
                  </a:txBody>
                  <a:tcPr>
                    <a:solidFill>
                      <a:srgbClr val="FFFFFF"/>
                    </a:solidFill>
                  </a:tcPr>
                </a:tc>
                <a:extLst>
                  <a:ext uri="{0D108BD9-81ED-4DB2-BD59-A6C34878D82A}">
                    <a16:rowId xmlns:a16="http://schemas.microsoft.com/office/drawing/2014/main" val="10007"/>
                  </a:ext>
                </a:extLst>
              </a:tr>
            </a:tbl>
          </a:graphicData>
        </a:graphic>
      </p:graphicFrame>
      <p:sp>
        <p:nvSpPr>
          <p:cNvPr id="8" name="TextBox 7"/>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15 / 22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09164"/>
          </a:solidFill>
          <a:ln>
            <a:noFill/>
          </a:ln>
        </p:spPr>
        <p:style>
          <a:lnRef idx="1">
            <a:schemeClr val="accent1"/>
          </a:lnRef>
          <a:fillRef idx="3">
            <a:schemeClr val="accent1"/>
          </a:fillRef>
          <a:effectRef idx="2">
            <a:schemeClr val="accent1"/>
          </a:effectRef>
          <a:fontRef idx="minor">
            <a:schemeClr val="lt1"/>
          </a:fontRef>
        </p:style>
        <p:txBody>
          <a:bodyPr wrap="square" lIns="640080" rtlCol="0" anchor="ctr"/>
          <a:lstStyle/>
          <a:p>
            <a:pPr algn="l"/>
            <a:r>
              <a:rPr sz="2600" b="1" i="0">
                <a:solidFill>
                  <a:srgbClr val="FFFFFF"/>
                </a:solidFill>
                <a:latin typeface="Meiryo UI"/>
              </a:rPr>
              <a:t>実験2：測定結果</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05840"/>
            <a:ext cx="11094415" cy="548640"/>
          </a:xfrm>
          <a:prstGeom prst="rect">
            <a:avLst/>
          </a:prstGeom>
          <a:noFill/>
        </p:spPr>
        <p:txBody>
          <a:bodyPr wrap="square">
            <a:spAutoFit/>
          </a:bodyPr>
          <a:lstStyle/>
          <a:p>
            <a:pPr algn="l"/>
            <a:r>
              <a:rPr sz="3000" b="1" i="0">
                <a:solidFill>
                  <a:srgbClr val="2D2D30"/>
                </a:solidFill>
                <a:latin typeface="Meiryo UI"/>
              </a:rPr>
              <a:t>インピーダンス測定結果</a:t>
            </a:r>
          </a:p>
        </p:txBody>
      </p:sp>
      <p:sp>
        <p:nvSpPr>
          <p:cNvPr id="5" name="Rectangle 4"/>
          <p:cNvSpPr/>
          <p:nvPr/>
        </p:nvSpPr>
        <p:spPr>
          <a:xfrm>
            <a:off x="548640" y="1508760"/>
            <a:ext cx="228600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stretch>
            <a:fillRect/>
          </a:stretch>
        </p:blipFill>
        <p:spPr>
          <a:xfrm>
            <a:off x="548640" y="1828800"/>
            <a:ext cx="5316558" cy="3383280"/>
          </a:xfrm>
          <a:prstGeom prst="rect">
            <a:avLst/>
          </a:prstGeom>
        </p:spPr>
      </p:pic>
      <p:pic>
        <p:nvPicPr>
          <p:cNvPr id="7" name="Picture 6" descr="image.png"/>
          <p:cNvPicPr>
            <a:picLocks noChangeAspect="1"/>
          </p:cNvPicPr>
          <p:nvPr/>
        </p:nvPicPr>
        <p:blipFill>
          <a:blip r:embed="rId3"/>
          <a:stretch>
            <a:fillRect/>
          </a:stretch>
        </p:blipFill>
        <p:spPr>
          <a:xfrm>
            <a:off x="6278727" y="1828800"/>
            <a:ext cx="5316597" cy="3383280"/>
          </a:xfrm>
          <a:prstGeom prst="rect">
            <a:avLst/>
          </a:prstGeom>
        </p:spPr>
      </p:pic>
      <p:sp>
        <p:nvSpPr>
          <p:cNvPr id="8" name="TextBox 7"/>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16 / 22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009164"/>
          </a:solidFill>
          <a:ln>
            <a:noFill/>
          </a:ln>
        </p:spPr>
        <p:style>
          <a:lnRef idx="1">
            <a:schemeClr val="accent1"/>
          </a:lnRef>
          <a:fillRef idx="3">
            <a:schemeClr val="accent1"/>
          </a:fillRef>
          <a:effectRef idx="2">
            <a:schemeClr val="accent1"/>
          </a:effectRef>
          <a:fontRef idx="minor">
            <a:schemeClr val="lt1"/>
          </a:fontRef>
        </p:style>
        <p:txBody>
          <a:bodyPr wrap="square" lIns="640080" rtlCol="0" anchor="ctr"/>
          <a:lstStyle/>
          <a:p>
            <a:pPr algn="l"/>
            <a:r>
              <a:rPr sz="2600" b="1" i="0">
                <a:solidFill>
                  <a:srgbClr val="FFFFFF"/>
                </a:solidFill>
                <a:latin typeface="Meiryo UI"/>
              </a:rPr>
              <a:t>実験2：結果分析</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05840"/>
            <a:ext cx="11094415" cy="548640"/>
          </a:xfrm>
          <a:prstGeom prst="rect">
            <a:avLst/>
          </a:prstGeom>
          <a:noFill/>
        </p:spPr>
        <p:txBody>
          <a:bodyPr wrap="square">
            <a:spAutoFit/>
          </a:bodyPr>
          <a:lstStyle/>
          <a:p>
            <a:pPr algn="l"/>
            <a:r>
              <a:rPr sz="3000" b="1" i="0">
                <a:solidFill>
                  <a:srgbClr val="2D2D30"/>
                </a:solidFill>
                <a:latin typeface="Meiryo UI"/>
              </a:rPr>
              <a:t>インピーダンス測定結果の分析</a:t>
            </a:r>
          </a:p>
        </p:txBody>
      </p:sp>
      <p:sp>
        <p:nvSpPr>
          <p:cNvPr id="5" name="Rectangle 4"/>
          <p:cNvSpPr/>
          <p:nvPr/>
        </p:nvSpPr>
        <p:spPr>
          <a:xfrm>
            <a:off x="548640" y="1508760"/>
            <a:ext cx="228600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stretch>
            <a:fillRect/>
          </a:stretch>
        </p:blipFill>
        <p:spPr>
          <a:xfrm>
            <a:off x="548640" y="1828800"/>
            <a:ext cx="4652010" cy="3383280"/>
          </a:xfrm>
          <a:prstGeom prst="rect">
            <a:avLst/>
          </a:prstGeom>
        </p:spPr>
      </p:pic>
      <p:pic>
        <p:nvPicPr>
          <p:cNvPr id="7" name="Picture 6" descr="image.png"/>
          <p:cNvPicPr>
            <a:picLocks noChangeAspect="1"/>
          </p:cNvPicPr>
          <p:nvPr/>
        </p:nvPicPr>
        <p:blipFill>
          <a:blip r:embed="rId3"/>
          <a:stretch>
            <a:fillRect/>
          </a:stretch>
        </p:blipFill>
        <p:spPr>
          <a:xfrm>
            <a:off x="6278727" y="1828800"/>
            <a:ext cx="5316582" cy="3383280"/>
          </a:xfrm>
          <a:prstGeom prst="rect">
            <a:avLst/>
          </a:prstGeom>
        </p:spPr>
      </p:pic>
      <p:sp>
        <p:nvSpPr>
          <p:cNvPr id="8" name="TextBox 7"/>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17 / 22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B45F14"/>
          </a:solidFill>
          <a:ln>
            <a:noFill/>
          </a:ln>
        </p:spPr>
        <p:style>
          <a:lnRef idx="1">
            <a:schemeClr val="accent1"/>
          </a:lnRef>
          <a:fillRef idx="3">
            <a:schemeClr val="accent1"/>
          </a:fillRef>
          <a:effectRef idx="2">
            <a:schemeClr val="accent1"/>
          </a:effectRef>
          <a:fontRef idx="minor">
            <a:schemeClr val="lt1"/>
          </a:fontRef>
        </p:style>
        <p:txBody>
          <a:bodyPr wrap="square" lIns="640080" rtlCol="0" anchor="ctr"/>
          <a:lstStyle/>
          <a:p>
            <a:pPr algn="l"/>
            <a:r>
              <a:rPr sz="2600" b="1" i="0">
                <a:solidFill>
                  <a:srgbClr val="FFFFFF"/>
                </a:solidFill>
                <a:latin typeface="Meiryo UI"/>
              </a:rPr>
              <a:t>考察2：インピーダンス測定</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05840"/>
            <a:ext cx="11094415" cy="548640"/>
          </a:xfrm>
          <a:prstGeom prst="rect">
            <a:avLst/>
          </a:prstGeom>
          <a:noFill/>
        </p:spPr>
        <p:txBody>
          <a:bodyPr wrap="square">
            <a:spAutoFit/>
          </a:bodyPr>
          <a:lstStyle/>
          <a:p>
            <a:pPr algn="l"/>
            <a:r>
              <a:rPr sz="3000" b="1" i="0">
                <a:solidFill>
                  <a:srgbClr val="2D2D30"/>
                </a:solidFill>
                <a:latin typeface="Meiryo UI"/>
              </a:rPr>
              <a:t>インピーダンス測定に関する考察</a:t>
            </a:r>
          </a:p>
        </p:txBody>
      </p:sp>
      <p:sp>
        <p:nvSpPr>
          <p:cNvPr id="5" name="Rectangle 4"/>
          <p:cNvSpPr/>
          <p:nvPr/>
        </p:nvSpPr>
        <p:spPr>
          <a:xfrm>
            <a:off x="548640" y="1508760"/>
            <a:ext cx="228600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46607" y="1828800"/>
            <a:ext cx="3200400" cy="3291840"/>
          </a:xfrm>
          <a:prstGeom prst="roundRect">
            <a:avLst>
              <a:gd name="adj" fmla="val 2000"/>
            </a:avLst>
          </a:prstGeom>
          <a:solidFill>
            <a:srgbClr val="EBF5FF"/>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75207" y="1920240"/>
            <a:ext cx="2743200" cy="320040"/>
          </a:xfrm>
          <a:prstGeom prst="rect">
            <a:avLst/>
          </a:prstGeom>
          <a:noFill/>
        </p:spPr>
        <p:txBody>
          <a:bodyPr wrap="none">
            <a:spAutoFit/>
          </a:bodyPr>
          <a:lstStyle/>
          <a:p>
            <a:r>
              <a:rPr sz="1300" b="1" i="0">
                <a:solidFill>
                  <a:srgbClr val="0078D4"/>
                </a:solidFill>
                <a:latin typeface="Meiryo UI"/>
              </a:rPr>
              <a:t>◆ Step 1：観測事実</a:t>
            </a:r>
          </a:p>
        </p:txBody>
      </p:sp>
      <p:sp>
        <p:nvSpPr>
          <p:cNvPr id="8" name="TextBox 7"/>
          <p:cNvSpPr txBox="1"/>
          <p:nvPr/>
        </p:nvSpPr>
        <p:spPr>
          <a:xfrm>
            <a:off x="975207" y="2212848"/>
            <a:ext cx="2743200" cy="2788920"/>
          </a:xfrm>
          <a:prstGeom prst="rect">
            <a:avLst/>
          </a:prstGeom>
          <a:noFill/>
        </p:spPr>
        <p:txBody>
          <a:bodyPr wrap="square">
            <a:spAutoFit/>
          </a:bodyPr>
          <a:lstStyle/>
          <a:p>
            <a:pPr>
              <a:lnSpc>
                <a:spcPts val="2000"/>
              </a:lnSpc>
            </a:pPr>
            <a:r>
              <a:rPr sz="1300" b="0" i="0">
                <a:solidFill>
                  <a:srgbClr val="2D2D30"/>
                </a:solidFill>
                <a:latin typeface="Meiryo UI"/>
              </a:rPr>
              <a:t>インピーダンスの周波数特性には手で押したときと離したときに変化が見られた。</a:t>
            </a:r>
          </a:p>
        </p:txBody>
      </p:sp>
      <p:sp>
        <p:nvSpPr>
          <p:cNvPr id="9" name="Right Arrow 8"/>
          <p:cNvSpPr/>
          <p:nvPr/>
        </p:nvSpPr>
        <p:spPr>
          <a:xfrm>
            <a:off x="3992727" y="3291840"/>
            <a:ext cx="457200" cy="365760"/>
          </a:xfrm>
          <a:prstGeom prst="rightArrow">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495647" y="1828800"/>
            <a:ext cx="3200400" cy="3291840"/>
          </a:xfrm>
          <a:prstGeom prst="roundRect">
            <a:avLst>
              <a:gd name="adj" fmla="val 2000"/>
            </a:avLst>
          </a:prstGeom>
          <a:solidFill>
            <a:srgbClr val="FFF5EB"/>
          </a:solidFill>
          <a:ln w="9525">
            <a:solidFill>
              <a:srgbClr val="B45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24247" y="1920240"/>
            <a:ext cx="2743200" cy="320040"/>
          </a:xfrm>
          <a:prstGeom prst="rect">
            <a:avLst/>
          </a:prstGeom>
          <a:noFill/>
        </p:spPr>
        <p:txBody>
          <a:bodyPr wrap="none">
            <a:spAutoFit/>
          </a:bodyPr>
          <a:lstStyle/>
          <a:p>
            <a:r>
              <a:rPr sz="1300" b="1" i="0">
                <a:solidFill>
                  <a:srgbClr val="B45F14"/>
                </a:solidFill>
                <a:latin typeface="Meiryo UI"/>
              </a:rPr>
              <a:t>◆ Step 2：応用可能性</a:t>
            </a:r>
          </a:p>
        </p:txBody>
      </p:sp>
      <p:sp>
        <p:nvSpPr>
          <p:cNvPr id="12" name="TextBox 11"/>
          <p:cNvSpPr txBox="1"/>
          <p:nvPr/>
        </p:nvSpPr>
        <p:spPr>
          <a:xfrm>
            <a:off x="4724247" y="2212848"/>
            <a:ext cx="2743200" cy="2788920"/>
          </a:xfrm>
          <a:prstGeom prst="rect">
            <a:avLst/>
          </a:prstGeom>
          <a:noFill/>
        </p:spPr>
        <p:txBody>
          <a:bodyPr wrap="square">
            <a:spAutoFit/>
          </a:bodyPr>
          <a:lstStyle/>
          <a:p>
            <a:pPr>
              <a:lnSpc>
                <a:spcPts val="2000"/>
              </a:lnSpc>
            </a:pPr>
            <a:r>
              <a:rPr sz="1300" b="0" i="0">
                <a:solidFill>
                  <a:srgbClr val="2D2D30"/>
                </a:solidFill>
                <a:latin typeface="Meiryo UI"/>
              </a:rPr>
              <a:t>インピーダンスの周波数特性の差分を測定し、分析・機械学習させることによって圧力センサーやタッチセンサーとして活用可能。</a:t>
            </a:r>
          </a:p>
        </p:txBody>
      </p:sp>
      <p:sp>
        <p:nvSpPr>
          <p:cNvPr id="13" name="Right Arrow 12"/>
          <p:cNvSpPr/>
          <p:nvPr/>
        </p:nvSpPr>
        <p:spPr>
          <a:xfrm>
            <a:off x="7741767" y="3291840"/>
            <a:ext cx="457200" cy="365760"/>
          </a:xfrm>
          <a:prstGeom prst="rightArrow">
            <a:avLst/>
          </a:prstGeom>
          <a:solidFill>
            <a:srgbClr val="B45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244687" y="1828800"/>
            <a:ext cx="3200400" cy="3291840"/>
          </a:xfrm>
          <a:prstGeom prst="roundRect">
            <a:avLst>
              <a:gd name="adj" fmla="val 2000"/>
            </a:avLst>
          </a:prstGeom>
          <a:solidFill>
            <a:srgbClr val="EBFFF5"/>
          </a:solidFill>
          <a:ln w="9525">
            <a:solidFill>
              <a:srgbClr val="0091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73287" y="1920240"/>
            <a:ext cx="2743200" cy="320040"/>
          </a:xfrm>
          <a:prstGeom prst="rect">
            <a:avLst/>
          </a:prstGeom>
          <a:noFill/>
        </p:spPr>
        <p:txBody>
          <a:bodyPr wrap="none">
            <a:spAutoFit/>
          </a:bodyPr>
          <a:lstStyle/>
          <a:p>
            <a:r>
              <a:rPr sz="1300" b="1" i="0">
                <a:solidFill>
                  <a:srgbClr val="009164"/>
                </a:solidFill>
                <a:latin typeface="Meiryo UI"/>
              </a:rPr>
              <a:t>◆ Step 3：プロトタイプ実証</a:t>
            </a:r>
          </a:p>
        </p:txBody>
      </p:sp>
      <p:sp>
        <p:nvSpPr>
          <p:cNvPr id="16" name="TextBox 15"/>
          <p:cNvSpPr txBox="1"/>
          <p:nvPr/>
        </p:nvSpPr>
        <p:spPr>
          <a:xfrm>
            <a:off x="8473287" y="2212848"/>
            <a:ext cx="2743200" cy="829971"/>
          </a:xfrm>
          <a:prstGeom prst="rect">
            <a:avLst/>
          </a:prstGeom>
          <a:noFill/>
        </p:spPr>
        <p:txBody>
          <a:bodyPr wrap="square">
            <a:spAutoFit/>
          </a:bodyPr>
          <a:lstStyle/>
          <a:p>
            <a:pPr>
              <a:lnSpc>
                <a:spcPts val="2000"/>
              </a:lnSpc>
            </a:pPr>
            <a:r>
              <a:rPr sz="1300" b="0" i="0" dirty="0" err="1">
                <a:solidFill>
                  <a:srgbClr val="2D2D30"/>
                </a:solidFill>
                <a:latin typeface="Meiryo UI"/>
              </a:rPr>
              <a:t>サーキットラーンを用いた機械学習で判定ソフトプロトタイプを作成し、実演による検証を</a:t>
            </a:r>
            <a:r>
              <a:rPr lang="ja-JP" altLang="en-US" sz="1300" b="0" i="0" dirty="0">
                <a:solidFill>
                  <a:srgbClr val="2D2D30"/>
                </a:solidFill>
                <a:latin typeface="Meiryo UI"/>
              </a:rPr>
              <a:t>行います。</a:t>
            </a:r>
            <a:endParaRPr lang="en-US" altLang="ja-JP" sz="1300" b="0" i="0" dirty="0">
              <a:solidFill>
                <a:srgbClr val="2D2D30"/>
              </a:solidFill>
              <a:latin typeface="Meiryo UI"/>
            </a:endParaRPr>
          </a:p>
        </p:txBody>
      </p:sp>
      <p:sp>
        <p:nvSpPr>
          <p:cNvPr id="17" name="TextBox 16"/>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18 / 22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B45F14"/>
          </a:solidFill>
          <a:ln>
            <a:noFill/>
          </a:ln>
        </p:spPr>
        <p:style>
          <a:lnRef idx="1">
            <a:schemeClr val="accent1"/>
          </a:lnRef>
          <a:fillRef idx="3">
            <a:schemeClr val="accent1"/>
          </a:fillRef>
          <a:effectRef idx="2">
            <a:schemeClr val="accent1"/>
          </a:effectRef>
          <a:fontRef idx="minor">
            <a:schemeClr val="lt1"/>
          </a:fontRef>
        </p:style>
        <p:txBody>
          <a:bodyPr wrap="square" lIns="640080" rtlCol="0" anchor="ctr"/>
          <a:lstStyle/>
          <a:p>
            <a:pPr algn="l"/>
            <a:r>
              <a:rPr sz="2600" b="1" i="0">
                <a:solidFill>
                  <a:srgbClr val="FFFFFF"/>
                </a:solidFill>
                <a:latin typeface="Meiryo UI"/>
              </a:rPr>
              <a:t>考察2：定量分析</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05840"/>
            <a:ext cx="11094415" cy="548640"/>
          </a:xfrm>
          <a:prstGeom prst="rect">
            <a:avLst/>
          </a:prstGeom>
          <a:noFill/>
        </p:spPr>
        <p:txBody>
          <a:bodyPr wrap="square">
            <a:spAutoFit/>
          </a:bodyPr>
          <a:lstStyle/>
          <a:p>
            <a:pPr algn="l"/>
            <a:r>
              <a:rPr sz="3000" b="1" i="0">
                <a:solidFill>
                  <a:srgbClr val="2D2D30"/>
                </a:solidFill>
                <a:latin typeface="Meiryo UI"/>
              </a:rPr>
              <a:t>損失正接による粘弾性評価</a:t>
            </a:r>
          </a:p>
        </p:txBody>
      </p:sp>
      <p:sp>
        <p:nvSpPr>
          <p:cNvPr id="5" name="Rectangle 4"/>
          <p:cNvSpPr/>
          <p:nvPr/>
        </p:nvSpPr>
        <p:spPr>
          <a:xfrm>
            <a:off x="548640" y="1508760"/>
            <a:ext cx="228600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1783080"/>
            <a:ext cx="5303520" cy="1645920"/>
          </a:xfrm>
          <a:prstGeom prst="roundRect">
            <a:avLst>
              <a:gd name="adj" fmla="val 2000"/>
            </a:avLst>
          </a:prstGeom>
          <a:solidFill>
            <a:srgbClr val="F0F8FF"/>
          </a:solidFill>
          <a:ln w="9525">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874520"/>
            <a:ext cx="4846320" cy="320040"/>
          </a:xfrm>
          <a:prstGeom prst="rect">
            <a:avLst/>
          </a:prstGeom>
          <a:noFill/>
        </p:spPr>
        <p:txBody>
          <a:bodyPr wrap="none">
            <a:spAutoFit/>
          </a:bodyPr>
          <a:lstStyle/>
          <a:p>
            <a:r>
              <a:rPr sz="1300" b="1" i="0">
                <a:solidFill>
                  <a:srgbClr val="0078D4"/>
                </a:solidFill>
                <a:latin typeface="Meiryo UI"/>
              </a:rPr>
              <a:t>周波数 1×10⁵ Hz での分析</a:t>
            </a:r>
          </a:p>
        </p:txBody>
      </p:sp>
      <p:sp>
        <p:nvSpPr>
          <p:cNvPr id="8" name="TextBox 7"/>
          <p:cNvSpPr txBox="1"/>
          <p:nvPr/>
        </p:nvSpPr>
        <p:spPr>
          <a:xfrm>
            <a:off x="777240" y="2167128"/>
            <a:ext cx="4846320" cy="1143000"/>
          </a:xfrm>
          <a:prstGeom prst="rect">
            <a:avLst/>
          </a:prstGeom>
          <a:noFill/>
        </p:spPr>
        <p:txBody>
          <a:bodyPr wrap="square">
            <a:spAutoFit/>
          </a:bodyPr>
          <a:lstStyle/>
          <a:p>
            <a:pPr>
              <a:lnSpc>
                <a:spcPts val="2000"/>
              </a:lnSpc>
            </a:pPr>
            <a:r>
              <a:rPr sz="1300" b="0" i="0">
                <a:solidFill>
                  <a:srgbClr val="2D2D30"/>
                </a:solidFill>
                <a:latin typeface="Meiryo UI"/>
              </a:rPr>
              <a:t>位相差が約1°であるため、損失正接は
tan1° ≒ 0.0175 = 損失弾性率 / 貯蔵弾性率
→ 貯蔵弾性率は損失弾性率の約57倍</a:t>
            </a:r>
          </a:p>
        </p:txBody>
      </p:sp>
      <p:sp>
        <p:nvSpPr>
          <p:cNvPr id="9" name="Rounded Rectangle 8"/>
          <p:cNvSpPr/>
          <p:nvPr/>
        </p:nvSpPr>
        <p:spPr>
          <a:xfrm>
            <a:off x="6309360" y="1783080"/>
            <a:ext cx="5303520" cy="1645920"/>
          </a:xfrm>
          <a:prstGeom prst="roundRect">
            <a:avLst>
              <a:gd name="adj" fmla="val 2000"/>
            </a:avLst>
          </a:prstGeom>
          <a:solidFill>
            <a:srgbClr val="FFF8F0"/>
          </a:solidFill>
          <a:ln w="9525">
            <a:solidFill>
              <a:srgbClr val="B45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1874520"/>
            <a:ext cx="4846320" cy="320040"/>
          </a:xfrm>
          <a:prstGeom prst="rect">
            <a:avLst/>
          </a:prstGeom>
          <a:noFill/>
        </p:spPr>
        <p:txBody>
          <a:bodyPr wrap="none">
            <a:spAutoFit/>
          </a:bodyPr>
          <a:lstStyle/>
          <a:p>
            <a:r>
              <a:rPr sz="1300" b="1" i="0">
                <a:solidFill>
                  <a:srgbClr val="B45F14"/>
                </a:solidFill>
                <a:latin typeface="Meiryo UI"/>
              </a:rPr>
              <a:t>周波数 1×10⁶ Hz での分析</a:t>
            </a:r>
          </a:p>
        </p:txBody>
      </p:sp>
      <p:sp>
        <p:nvSpPr>
          <p:cNvPr id="11" name="TextBox 10"/>
          <p:cNvSpPr txBox="1"/>
          <p:nvPr/>
        </p:nvSpPr>
        <p:spPr>
          <a:xfrm>
            <a:off x="6537960" y="2167128"/>
            <a:ext cx="4846320" cy="1143000"/>
          </a:xfrm>
          <a:prstGeom prst="rect">
            <a:avLst/>
          </a:prstGeom>
          <a:noFill/>
        </p:spPr>
        <p:txBody>
          <a:bodyPr wrap="square">
            <a:spAutoFit/>
          </a:bodyPr>
          <a:lstStyle/>
          <a:p>
            <a:pPr>
              <a:lnSpc>
                <a:spcPts val="2000"/>
              </a:lnSpc>
            </a:pPr>
            <a:r>
              <a:rPr sz="1300" b="0" i="0">
                <a:solidFill>
                  <a:srgbClr val="2D2D30"/>
                </a:solidFill>
                <a:latin typeface="Meiryo UI"/>
              </a:rPr>
              <a:t>位相差が約6°であるため、損失正接は
tan6° ≒ 0.105
→ 貯蔵弾性率は損失弾性率の約10倍</a:t>
            </a:r>
          </a:p>
        </p:txBody>
      </p:sp>
      <p:sp>
        <p:nvSpPr>
          <p:cNvPr id="12" name="Down Arrow 11"/>
          <p:cNvSpPr/>
          <p:nvPr/>
        </p:nvSpPr>
        <p:spPr>
          <a:xfrm>
            <a:off x="5775807" y="3520440"/>
            <a:ext cx="640080" cy="411480"/>
          </a:xfrm>
          <a:prstGeom prst="downArrow">
            <a:avLst/>
          </a:prstGeom>
          <a:solidFill>
            <a:srgbClr val="19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48640" y="4023360"/>
            <a:ext cx="11094415" cy="2103120"/>
          </a:xfrm>
          <a:prstGeom prst="roundRect">
            <a:avLst>
              <a:gd name="adj" fmla="val 2000"/>
            </a:avLst>
          </a:prstGeom>
          <a:solidFill>
            <a:srgbClr val="F8FAFF"/>
          </a:solidFill>
          <a:ln w="9525">
            <a:solidFill>
              <a:srgbClr val="1937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4160520"/>
            <a:ext cx="10545775" cy="1828800"/>
          </a:xfrm>
          <a:prstGeom prst="rect">
            <a:avLst/>
          </a:prstGeom>
          <a:noFill/>
        </p:spPr>
        <p:txBody>
          <a:bodyPr wrap="square">
            <a:spAutoFit/>
          </a:bodyPr>
          <a:lstStyle/>
          <a:p>
            <a:pPr>
              <a:lnSpc>
                <a:spcPts val="2400"/>
              </a:lnSpc>
              <a:spcBef>
                <a:spcPts val="0"/>
              </a:spcBef>
              <a:spcAft>
                <a:spcPts val="600"/>
              </a:spcAft>
            </a:pPr>
            <a:r>
              <a:rPr sz="1600" b="1" i="0">
                <a:solidFill>
                  <a:srgbClr val="19376D"/>
                </a:solidFill>
                <a:latin typeface="Meiryo UI"/>
              </a:rPr>
              <a:t>▶ 総合考察</a:t>
            </a:r>
          </a:p>
          <a:p>
            <a:pPr>
              <a:lnSpc>
                <a:spcPts val="2380"/>
              </a:lnSpc>
              <a:spcBef>
                <a:spcPts val="300"/>
              </a:spcBef>
              <a:spcAft>
                <a:spcPts val="300"/>
              </a:spcAft>
            </a:pPr>
            <a:r>
              <a:rPr sz="1400" b="0" i="0">
                <a:solidFill>
                  <a:srgbClr val="2D2D30"/>
                </a:solidFill>
                <a:latin typeface="Meiryo UI"/>
              </a:rPr>
              <a:t>実験で使用したゲルは 1×10⁵ Hz までは形を保とうとするが、1×10⁶ Hz くらいからは内部で摩擦やズレが生じエネルギーをロスしやすくなることがわかる。</a:t>
            </a:r>
          </a:p>
          <a:p>
            <a:pPr>
              <a:lnSpc>
                <a:spcPts val="2380"/>
              </a:lnSpc>
              <a:spcBef>
                <a:spcPts val="300"/>
              </a:spcBef>
              <a:spcAft>
                <a:spcPts val="300"/>
              </a:spcAft>
            </a:pPr>
            <a:r>
              <a:rPr sz="1400" b="0" i="0">
                <a:solidFill>
                  <a:srgbClr val="2D2D30"/>
                </a:solidFill>
                <a:latin typeface="Meiryo UI"/>
              </a:rPr>
              <a:t>周波数が 1×10⁵ Hz から 1×10⁶ Hz の間では位相差が小さいことから、超音波がゲルを通過する際に熱に変わらず信号が減衰しにくい。1 MHz 付近は医療用超音波や非破壊検査で多く使われるため、これらへの応用が期待できる。</a:t>
            </a:r>
          </a:p>
        </p:txBody>
      </p:sp>
      <p:sp>
        <p:nvSpPr>
          <p:cNvPr id="15" name="TextBox 14"/>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19 / 22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823CA0"/>
          </a:solidFill>
          <a:ln>
            <a:noFill/>
          </a:ln>
        </p:spPr>
        <p:style>
          <a:lnRef idx="1">
            <a:schemeClr val="accent1"/>
          </a:lnRef>
          <a:fillRef idx="3">
            <a:schemeClr val="accent1"/>
          </a:fillRef>
          <a:effectRef idx="2">
            <a:schemeClr val="accent1"/>
          </a:effectRef>
          <a:fontRef idx="minor">
            <a:schemeClr val="lt1"/>
          </a:fontRef>
        </p:style>
        <p:txBody>
          <a:bodyPr wrap="square" lIns="640080" rtlCol="0" anchor="ctr"/>
          <a:lstStyle/>
          <a:p>
            <a:pPr algn="l"/>
            <a:r>
              <a:rPr sz="2600" b="1" i="0">
                <a:solidFill>
                  <a:srgbClr val="FFFFFF"/>
                </a:solidFill>
                <a:latin typeface="Meiryo UI"/>
              </a:rPr>
              <a:t>今後の展望</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05840"/>
            <a:ext cx="11094415" cy="548640"/>
          </a:xfrm>
          <a:prstGeom prst="rect">
            <a:avLst/>
          </a:prstGeom>
          <a:noFill/>
        </p:spPr>
        <p:txBody>
          <a:bodyPr wrap="square">
            <a:spAutoFit/>
          </a:bodyPr>
          <a:lstStyle/>
          <a:p>
            <a:pPr algn="l"/>
            <a:r>
              <a:rPr sz="3000" b="1" i="0">
                <a:solidFill>
                  <a:srgbClr val="2D2D30"/>
                </a:solidFill>
                <a:latin typeface="Meiryo UI"/>
              </a:rPr>
              <a:t>今後の研究展望</a:t>
            </a:r>
          </a:p>
        </p:txBody>
      </p:sp>
      <p:sp>
        <p:nvSpPr>
          <p:cNvPr id="5" name="Rectangle 4"/>
          <p:cNvSpPr/>
          <p:nvPr/>
        </p:nvSpPr>
        <p:spPr>
          <a:xfrm>
            <a:off x="548640" y="1508760"/>
            <a:ext cx="228600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48640" y="1783080"/>
            <a:ext cx="411480" cy="411480"/>
          </a:xfrm>
          <a:prstGeom prst="ellipse">
            <a:avLst/>
          </a:prstGeom>
          <a:solidFill>
            <a:srgbClr val="823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FFFFF"/>
                </a:solidFill>
                <a:latin typeface="Segoe UI"/>
              </a:rPr>
              <a:t>1</a:t>
            </a:r>
          </a:p>
        </p:txBody>
      </p:sp>
      <p:sp>
        <p:nvSpPr>
          <p:cNvPr id="7" name="TextBox 6"/>
          <p:cNvSpPr txBox="1"/>
          <p:nvPr/>
        </p:nvSpPr>
        <p:spPr>
          <a:xfrm>
            <a:off x="1143000" y="1691640"/>
            <a:ext cx="10500055" cy="1188720"/>
          </a:xfrm>
          <a:prstGeom prst="rect">
            <a:avLst/>
          </a:prstGeom>
          <a:noFill/>
        </p:spPr>
        <p:txBody>
          <a:bodyPr wrap="square">
            <a:spAutoFit/>
          </a:bodyPr>
          <a:lstStyle/>
          <a:p>
            <a:pPr>
              <a:lnSpc>
                <a:spcPts val="2200"/>
              </a:lnSpc>
            </a:pPr>
            <a:r>
              <a:rPr sz="1400" b="0" i="0" dirty="0">
                <a:solidFill>
                  <a:srgbClr val="2D2D30"/>
                </a:solidFill>
                <a:latin typeface="Meiryo UI"/>
              </a:rPr>
              <a:t>今回実験した範囲内では、モノマーの濃度が大きくなるほどゲルの強度（引張試験）が上昇したが、より大きなスケールでモノマーの濃度を変化させ、どの範囲までこの傾向が続くかを調査する。</a:t>
            </a:r>
          </a:p>
        </p:txBody>
      </p:sp>
      <p:sp>
        <p:nvSpPr>
          <p:cNvPr id="8" name="Oval 7"/>
          <p:cNvSpPr/>
          <p:nvPr/>
        </p:nvSpPr>
        <p:spPr>
          <a:xfrm>
            <a:off x="548640" y="3246120"/>
            <a:ext cx="411480" cy="411480"/>
          </a:xfrm>
          <a:prstGeom prst="ellipse">
            <a:avLst/>
          </a:prstGeom>
          <a:solidFill>
            <a:srgbClr val="823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FFFFF"/>
                </a:solidFill>
                <a:latin typeface="Segoe UI"/>
              </a:rPr>
              <a:t>2</a:t>
            </a:r>
          </a:p>
        </p:txBody>
      </p:sp>
      <p:sp>
        <p:nvSpPr>
          <p:cNvPr id="9" name="TextBox 8"/>
          <p:cNvSpPr txBox="1"/>
          <p:nvPr/>
        </p:nvSpPr>
        <p:spPr>
          <a:xfrm>
            <a:off x="1143000" y="3154680"/>
            <a:ext cx="10500055" cy="1188720"/>
          </a:xfrm>
          <a:prstGeom prst="rect">
            <a:avLst/>
          </a:prstGeom>
          <a:noFill/>
        </p:spPr>
        <p:txBody>
          <a:bodyPr wrap="square">
            <a:spAutoFit/>
          </a:bodyPr>
          <a:lstStyle/>
          <a:p>
            <a:pPr>
              <a:lnSpc>
                <a:spcPts val="2200"/>
              </a:lnSpc>
            </a:pPr>
            <a:r>
              <a:rPr sz="1400" b="0" i="0">
                <a:solidFill>
                  <a:srgbClr val="2D2D30"/>
                </a:solidFill>
                <a:latin typeface="Meiryo UI"/>
              </a:rPr>
              <a:t>実験2と同じ形式で、ゲルの濃度を変化させた際、結果がどのように変化するか調査することも、今後の課題として挙げられる。</a:t>
            </a:r>
          </a:p>
        </p:txBody>
      </p:sp>
      <p:sp>
        <p:nvSpPr>
          <p:cNvPr id="10" name="Oval 9"/>
          <p:cNvSpPr/>
          <p:nvPr/>
        </p:nvSpPr>
        <p:spPr>
          <a:xfrm>
            <a:off x="548640" y="4709160"/>
            <a:ext cx="411480" cy="411480"/>
          </a:xfrm>
          <a:prstGeom prst="ellipse">
            <a:avLst/>
          </a:prstGeom>
          <a:solidFill>
            <a:srgbClr val="823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FFFFF"/>
                </a:solidFill>
                <a:latin typeface="Segoe UI"/>
              </a:rPr>
              <a:t>3</a:t>
            </a:r>
          </a:p>
        </p:txBody>
      </p:sp>
      <p:sp>
        <p:nvSpPr>
          <p:cNvPr id="11" name="TextBox 10"/>
          <p:cNvSpPr txBox="1"/>
          <p:nvPr/>
        </p:nvSpPr>
        <p:spPr>
          <a:xfrm>
            <a:off x="1143000" y="4617720"/>
            <a:ext cx="10500055" cy="1188720"/>
          </a:xfrm>
          <a:prstGeom prst="rect">
            <a:avLst/>
          </a:prstGeom>
          <a:noFill/>
        </p:spPr>
        <p:txBody>
          <a:bodyPr wrap="square">
            <a:spAutoFit/>
          </a:bodyPr>
          <a:lstStyle/>
          <a:p>
            <a:pPr>
              <a:lnSpc>
                <a:spcPts val="2200"/>
              </a:lnSpc>
            </a:pPr>
            <a:r>
              <a:rPr sz="1400" b="0" i="0">
                <a:solidFill>
                  <a:srgbClr val="2D2D30"/>
                </a:solidFill>
                <a:latin typeface="Meiryo UI"/>
              </a:rPr>
              <a:t>今回の実験では、ゲルを押下したときのインピーダンス変化をあくまで定性的に分析したが、押下した際の強さや位置の関係についても測定、分析、考察したい。</a:t>
            </a:r>
          </a:p>
        </p:txBody>
      </p:sp>
      <p:sp>
        <p:nvSpPr>
          <p:cNvPr id="12" name="TextBox 11"/>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20 / 22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823CA0"/>
          </a:solidFill>
          <a:ln>
            <a:noFill/>
          </a:ln>
        </p:spPr>
        <p:style>
          <a:lnRef idx="1">
            <a:schemeClr val="accent1"/>
          </a:lnRef>
          <a:fillRef idx="3">
            <a:schemeClr val="accent1"/>
          </a:fillRef>
          <a:effectRef idx="2">
            <a:schemeClr val="accent1"/>
          </a:effectRef>
          <a:fontRef idx="minor">
            <a:schemeClr val="lt1"/>
          </a:fontRef>
        </p:style>
        <p:txBody>
          <a:bodyPr wrap="square" lIns="640080" rtlCol="0" anchor="ctr"/>
          <a:lstStyle/>
          <a:p>
            <a:pPr algn="l"/>
            <a:r>
              <a:rPr sz="2600" b="1" i="0">
                <a:solidFill>
                  <a:srgbClr val="FFFFFF"/>
                </a:solidFill>
                <a:latin typeface="Meiryo UI"/>
              </a:rPr>
              <a:t>今後の展望：具体的構想</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05840"/>
            <a:ext cx="11094415" cy="548640"/>
          </a:xfrm>
          <a:prstGeom prst="rect">
            <a:avLst/>
          </a:prstGeom>
          <a:noFill/>
        </p:spPr>
        <p:txBody>
          <a:bodyPr wrap="square">
            <a:spAutoFit/>
          </a:bodyPr>
          <a:lstStyle/>
          <a:p>
            <a:pPr algn="l"/>
            <a:r>
              <a:rPr sz="3000" b="1" i="0">
                <a:solidFill>
                  <a:srgbClr val="2D2D30"/>
                </a:solidFill>
                <a:latin typeface="Meiryo UI"/>
              </a:rPr>
              <a:t>押下位置推定のための装置構想</a:t>
            </a:r>
          </a:p>
        </p:txBody>
      </p:sp>
      <p:sp>
        <p:nvSpPr>
          <p:cNvPr id="5" name="Rectangle 4"/>
          <p:cNvSpPr/>
          <p:nvPr/>
        </p:nvSpPr>
        <p:spPr>
          <a:xfrm>
            <a:off x="548640" y="1508760"/>
            <a:ext cx="228600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645920"/>
            <a:ext cx="11094415" cy="523220"/>
          </a:xfrm>
          <a:prstGeom prst="rect">
            <a:avLst/>
          </a:prstGeom>
          <a:noFill/>
        </p:spPr>
        <p:txBody>
          <a:bodyPr wrap="square">
            <a:spAutoFit/>
          </a:bodyPr>
          <a:lstStyle/>
          <a:p>
            <a:r>
              <a:rPr sz="1400" b="0" i="0" dirty="0" err="1">
                <a:solidFill>
                  <a:srgbClr val="2D2D30"/>
                </a:solidFill>
                <a:latin typeface="Meiryo UI"/>
              </a:rPr>
              <a:t>具体的な構想として、以下のような回路を組みマルチプレクサで端子の組み合わせ</a:t>
            </a:r>
            <a:r>
              <a:rPr sz="1400" b="0" i="0" dirty="0">
                <a:solidFill>
                  <a:srgbClr val="2D2D30"/>
                </a:solidFill>
                <a:latin typeface="Meiryo UI"/>
              </a:rPr>
              <a:t> ₂C₄ = 6通りで</a:t>
            </a:r>
            <a:r>
              <a:rPr lang="ja-JP" altLang="en-US" sz="1400" b="0" i="0" dirty="0">
                <a:solidFill>
                  <a:srgbClr val="2D2D30"/>
                </a:solidFill>
                <a:latin typeface="Meiryo UI"/>
              </a:rPr>
              <a:t>回路を測定できる装置</a:t>
            </a:r>
            <a:r>
              <a:rPr sz="1400" b="0" i="0" dirty="0" err="1">
                <a:solidFill>
                  <a:srgbClr val="2D2D30"/>
                </a:solidFill>
                <a:latin typeface="Meiryo UI"/>
              </a:rPr>
              <a:t>を作ることで、押下の位置推定を行うことを構想している</a:t>
            </a:r>
            <a:r>
              <a:rPr sz="1400" b="0" i="0" dirty="0">
                <a:solidFill>
                  <a:srgbClr val="2D2D30"/>
                </a:solidFill>
                <a:latin typeface="Meiryo UI"/>
              </a:rPr>
              <a:t>。</a:t>
            </a:r>
          </a:p>
        </p:txBody>
      </p:sp>
      <p:pic>
        <p:nvPicPr>
          <p:cNvPr id="7" name="Picture 6" descr="image.png"/>
          <p:cNvPicPr>
            <a:picLocks noChangeAspect="1"/>
          </p:cNvPicPr>
          <p:nvPr/>
        </p:nvPicPr>
        <p:blipFill>
          <a:blip r:embed="rId2"/>
          <a:stretch>
            <a:fillRect/>
          </a:stretch>
        </p:blipFill>
        <p:spPr>
          <a:xfrm>
            <a:off x="2689284" y="2410886"/>
            <a:ext cx="6813127" cy="4114800"/>
          </a:xfrm>
          <a:prstGeom prst="rect">
            <a:avLst/>
          </a:prstGeom>
        </p:spPr>
      </p:pic>
      <p:sp>
        <p:nvSpPr>
          <p:cNvPr id="8" name="TextBox 7"/>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21 / 22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69CD4-0487-A173-EE48-474FCE0477C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3FFADA6-B755-6FFC-4708-352783439D52}"/>
              </a:ext>
            </a:extLst>
          </p:cNvPr>
          <p:cNvSpPr/>
          <p:nvPr/>
        </p:nvSpPr>
        <p:spPr>
          <a:xfrm>
            <a:off x="0" y="0"/>
            <a:ext cx="12191695" cy="777240"/>
          </a:xfrm>
          <a:prstGeom prst="rect">
            <a:avLst/>
          </a:prstGeom>
          <a:solidFill>
            <a:srgbClr val="505055"/>
          </a:solidFill>
          <a:ln>
            <a:noFill/>
          </a:ln>
        </p:spPr>
        <p:style>
          <a:lnRef idx="1">
            <a:schemeClr val="accent1"/>
          </a:lnRef>
          <a:fillRef idx="3">
            <a:schemeClr val="accent1"/>
          </a:fillRef>
          <a:effectRef idx="2">
            <a:schemeClr val="accent1"/>
          </a:effectRef>
          <a:fontRef idx="minor">
            <a:schemeClr val="lt1"/>
          </a:fontRef>
        </p:style>
        <p:txBody>
          <a:bodyPr wrap="square" lIns="640080" rtlCol="0" anchor="ctr"/>
          <a:lstStyle/>
          <a:p>
            <a:pPr algn="l"/>
            <a:r>
              <a:rPr lang="ja-JP" altLang="en-US" sz="2600" b="1" dirty="0">
                <a:solidFill>
                  <a:srgbClr val="FFFFFF"/>
                </a:solidFill>
                <a:latin typeface="Meiryo UI"/>
              </a:rPr>
              <a:t>謝辞と</a:t>
            </a:r>
            <a:r>
              <a:rPr lang="en-US" altLang="ja-JP" sz="2600" b="1" dirty="0">
                <a:solidFill>
                  <a:srgbClr val="FFFFFF"/>
                </a:solidFill>
                <a:latin typeface="Meiryo UI"/>
              </a:rPr>
              <a:t>AI</a:t>
            </a:r>
            <a:r>
              <a:rPr lang="ja-JP" altLang="en-US" sz="2600" b="1" dirty="0">
                <a:solidFill>
                  <a:srgbClr val="FFFFFF"/>
                </a:solidFill>
                <a:latin typeface="Meiryo UI"/>
              </a:rPr>
              <a:t>使用について</a:t>
            </a:r>
            <a:endParaRPr sz="2600" b="1" i="0" dirty="0">
              <a:solidFill>
                <a:srgbClr val="FFFFFF"/>
              </a:solidFill>
              <a:latin typeface="Meiryo UI"/>
            </a:endParaRPr>
          </a:p>
        </p:txBody>
      </p:sp>
      <p:sp>
        <p:nvSpPr>
          <p:cNvPr id="3" name="Rectangle 2">
            <a:extLst>
              <a:ext uri="{FF2B5EF4-FFF2-40B4-BE49-F238E27FC236}">
                <a16:creationId xmlns:a16="http://schemas.microsoft.com/office/drawing/2014/main" id="{75FC0F74-26BE-B993-7BE4-4149DC66007C}"/>
              </a:ext>
            </a:extLst>
          </p:cNvPr>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14E4015A-A5A5-8B05-3772-E941F8DFF047}"/>
              </a:ext>
            </a:extLst>
          </p:cNvPr>
          <p:cNvSpPr/>
          <p:nvPr/>
        </p:nvSpPr>
        <p:spPr>
          <a:xfrm>
            <a:off x="548640" y="1508760"/>
            <a:ext cx="228600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88787558-1CBC-1A0A-5FFA-CA6B5156ED5B}"/>
              </a:ext>
            </a:extLst>
          </p:cNvPr>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22 / 22</a:t>
            </a:r>
          </a:p>
        </p:txBody>
      </p:sp>
      <p:sp>
        <p:nvSpPr>
          <p:cNvPr id="17" name="TextBox 6">
            <a:extLst>
              <a:ext uri="{FF2B5EF4-FFF2-40B4-BE49-F238E27FC236}">
                <a16:creationId xmlns:a16="http://schemas.microsoft.com/office/drawing/2014/main" id="{AB300E52-3779-9432-62CF-CA565735CBEA}"/>
              </a:ext>
            </a:extLst>
          </p:cNvPr>
          <p:cNvSpPr txBox="1">
            <a:spLocks/>
          </p:cNvSpPr>
          <p:nvPr/>
        </p:nvSpPr>
        <p:spPr>
          <a:xfrm>
            <a:off x="1379839" y="3226364"/>
            <a:ext cx="10188384" cy="1502976"/>
          </a:xfrm>
          <a:prstGeom prst="rect">
            <a:avLst/>
          </a:prstGeom>
          <a:noFill/>
        </p:spPr>
        <p:txBody>
          <a:bodyPr wrap="square">
            <a:spAutoFit/>
          </a:bodyPr>
          <a:lstStyle/>
          <a:p>
            <a:pPr>
              <a:lnSpc>
                <a:spcPts val="2200"/>
              </a:lnSpc>
            </a:pPr>
            <a:r>
              <a:rPr lang="ja-JP" altLang="en-US" sz="2400" b="0" i="0" dirty="0">
                <a:solidFill>
                  <a:srgbClr val="2D2D30"/>
                </a:solidFill>
                <a:latin typeface="Meiryo UI"/>
              </a:rPr>
              <a:t>吉田一也先生、吉田研究室の学生の皆様をはじめと</a:t>
            </a:r>
            <a:r>
              <a:rPr lang="ja-JP" altLang="en-US" sz="2400" dirty="0">
                <a:solidFill>
                  <a:srgbClr val="2D2D30"/>
                </a:solidFill>
                <a:latin typeface="Meiryo UI"/>
              </a:rPr>
              <a:t>して、本実験にご協力いただいたすべての方に深く御礼申し上げます。</a:t>
            </a:r>
            <a:endParaRPr lang="en-US" altLang="ja-JP" sz="2400" dirty="0">
              <a:solidFill>
                <a:srgbClr val="2D2D30"/>
              </a:solidFill>
              <a:latin typeface="Meiryo UI"/>
            </a:endParaRPr>
          </a:p>
          <a:p>
            <a:pPr>
              <a:lnSpc>
                <a:spcPts val="2200"/>
              </a:lnSpc>
            </a:pPr>
            <a:r>
              <a:rPr lang="ja-JP" altLang="en-US" sz="2400" b="0" i="0" dirty="0">
                <a:solidFill>
                  <a:srgbClr val="2D2D30"/>
                </a:solidFill>
                <a:latin typeface="Meiryo UI"/>
              </a:rPr>
              <a:t>またスライド作成、プロトタイプ作成のコーディングの一部に</a:t>
            </a:r>
            <a:r>
              <a:rPr lang="en-US" altLang="ja-JP" sz="2400" dirty="0"/>
              <a:t>GitHub Copilot</a:t>
            </a:r>
            <a:r>
              <a:rPr lang="ja-JP" altLang="en-US" sz="2400" dirty="0"/>
              <a:t>などの生成</a:t>
            </a:r>
            <a:r>
              <a:rPr lang="en-US" altLang="ja-JP" sz="2400" dirty="0"/>
              <a:t>AI</a:t>
            </a:r>
            <a:r>
              <a:rPr lang="ja-JP" altLang="en-US" sz="2400" dirty="0"/>
              <a:t>を使用しました。ただし、本実験に関する実験、考察などは自分たちで行い、またそれらの責任はすべて著者に帰属します。</a:t>
            </a:r>
            <a:endParaRPr sz="2400" b="0" i="0" dirty="0">
              <a:solidFill>
                <a:srgbClr val="2D2D30"/>
              </a:solidFill>
              <a:latin typeface="Meiryo UI"/>
            </a:endParaRPr>
          </a:p>
        </p:txBody>
      </p:sp>
    </p:spTree>
    <p:extLst>
      <p:ext uri="{BB962C8B-B14F-4D97-AF65-F5344CB8AC3E}">
        <p14:creationId xmlns:p14="http://schemas.microsoft.com/office/powerpoint/2010/main" val="25874702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505055"/>
          </a:solidFill>
          <a:ln>
            <a:noFill/>
          </a:ln>
        </p:spPr>
        <p:style>
          <a:lnRef idx="1">
            <a:schemeClr val="accent1"/>
          </a:lnRef>
          <a:fillRef idx="3">
            <a:schemeClr val="accent1"/>
          </a:fillRef>
          <a:effectRef idx="2">
            <a:schemeClr val="accent1"/>
          </a:effectRef>
          <a:fontRef idx="minor">
            <a:schemeClr val="lt1"/>
          </a:fontRef>
        </p:style>
        <p:txBody>
          <a:bodyPr wrap="square" lIns="640080" rtlCol="0" anchor="ctr"/>
          <a:lstStyle/>
          <a:p>
            <a:pPr algn="l"/>
            <a:r>
              <a:rPr sz="2600" b="1" i="0">
                <a:solidFill>
                  <a:srgbClr val="FFFFFF"/>
                </a:solidFill>
                <a:latin typeface="Meiryo UI"/>
              </a:rPr>
              <a:t>参考文献</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05840"/>
            <a:ext cx="11094415" cy="548640"/>
          </a:xfrm>
          <a:prstGeom prst="rect">
            <a:avLst/>
          </a:prstGeom>
          <a:noFill/>
        </p:spPr>
        <p:txBody>
          <a:bodyPr wrap="square">
            <a:spAutoFit/>
          </a:bodyPr>
          <a:lstStyle/>
          <a:p>
            <a:pPr algn="l"/>
            <a:r>
              <a:rPr sz="3000" b="1" i="0">
                <a:solidFill>
                  <a:srgbClr val="2D2D30"/>
                </a:solidFill>
                <a:latin typeface="Meiryo UI"/>
              </a:rPr>
              <a:t>参考文献</a:t>
            </a:r>
          </a:p>
        </p:txBody>
      </p:sp>
      <p:sp>
        <p:nvSpPr>
          <p:cNvPr id="5" name="Rectangle 4"/>
          <p:cNvSpPr/>
          <p:nvPr/>
        </p:nvSpPr>
        <p:spPr>
          <a:xfrm>
            <a:off x="548640" y="1508760"/>
            <a:ext cx="228600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645920"/>
            <a:ext cx="457200" cy="274320"/>
          </a:xfrm>
          <a:prstGeom prst="rect">
            <a:avLst/>
          </a:prstGeom>
          <a:noFill/>
        </p:spPr>
        <p:txBody>
          <a:bodyPr wrap="none">
            <a:spAutoFit/>
          </a:bodyPr>
          <a:lstStyle/>
          <a:p>
            <a:r>
              <a:rPr sz="1200" b="1" i="0">
                <a:solidFill>
                  <a:srgbClr val="19376D"/>
                </a:solidFill>
                <a:latin typeface="Segoe UI"/>
              </a:rPr>
              <a:t>[0]</a:t>
            </a:r>
          </a:p>
        </p:txBody>
      </p:sp>
      <p:sp>
        <p:nvSpPr>
          <p:cNvPr id="7" name="TextBox 6"/>
          <p:cNvSpPr txBox="1"/>
          <p:nvPr/>
        </p:nvSpPr>
        <p:spPr>
          <a:xfrm>
            <a:off x="1005840" y="1645920"/>
            <a:ext cx="10637215" cy="731520"/>
          </a:xfrm>
          <a:prstGeom prst="rect">
            <a:avLst/>
          </a:prstGeom>
          <a:noFill/>
        </p:spPr>
        <p:txBody>
          <a:bodyPr wrap="square">
            <a:spAutoFit/>
          </a:bodyPr>
          <a:lstStyle/>
          <a:p>
            <a:pPr>
              <a:lnSpc>
                <a:spcPts val="1800"/>
              </a:lnSpc>
            </a:pPr>
            <a:r>
              <a:rPr sz="1100" b="0" i="0">
                <a:solidFill>
                  <a:srgbClr val="2D2D30"/>
                </a:solidFill>
                <a:latin typeface="Meiryo UI"/>
              </a:rPr>
              <a:t>CHEMFISH「イオン液体ゲルの高感度圧力センサー」
https://www.chemfish.co.jp/index.php?id=3890</a:t>
            </a:r>
          </a:p>
        </p:txBody>
      </p:sp>
      <p:sp>
        <p:nvSpPr>
          <p:cNvPr id="8" name="TextBox 7"/>
          <p:cNvSpPr txBox="1"/>
          <p:nvPr/>
        </p:nvSpPr>
        <p:spPr>
          <a:xfrm>
            <a:off x="548640" y="2468880"/>
            <a:ext cx="457200" cy="274320"/>
          </a:xfrm>
          <a:prstGeom prst="rect">
            <a:avLst/>
          </a:prstGeom>
          <a:noFill/>
        </p:spPr>
        <p:txBody>
          <a:bodyPr wrap="none">
            <a:spAutoFit/>
          </a:bodyPr>
          <a:lstStyle/>
          <a:p>
            <a:r>
              <a:rPr sz="1200" b="1" i="0">
                <a:solidFill>
                  <a:srgbClr val="19376D"/>
                </a:solidFill>
                <a:latin typeface="Segoe UI"/>
              </a:rPr>
              <a:t>[1]</a:t>
            </a:r>
          </a:p>
        </p:txBody>
      </p:sp>
      <p:sp>
        <p:nvSpPr>
          <p:cNvPr id="9" name="TextBox 8"/>
          <p:cNvSpPr txBox="1"/>
          <p:nvPr/>
        </p:nvSpPr>
        <p:spPr>
          <a:xfrm>
            <a:off x="1005840" y="2468880"/>
            <a:ext cx="10637215" cy="731520"/>
          </a:xfrm>
          <a:prstGeom prst="rect">
            <a:avLst/>
          </a:prstGeom>
          <a:noFill/>
        </p:spPr>
        <p:txBody>
          <a:bodyPr wrap="square">
            <a:spAutoFit/>
          </a:bodyPr>
          <a:lstStyle/>
          <a:p>
            <a:pPr>
              <a:lnSpc>
                <a:spcPts val="1800"/>
              </a:lnSpc>
            </a:pPr>
            <a:r>
              <a:rPr sz="1100" b="0" i="0">
                <a:solidFill>
                  <a:srgbClr val="2D2D30"/>
                </a:solidFill>
                <a:latin typeface="Meiryo UI"/>
              </a:rPr>
              <a:t>Cica-Web「1-ブチル-3-メチルイミダゾリウムビス(フルオロスルホニル)イミド」
https://cica-web.kanto.co.jp/CicaWeb/servlet/wsj.front.LogonSvlt?ReqItem=05816-35</a:t>
            </a:r>
          </a:p>
        </p:txBody>
      </p:sp>
      <p:sp>
        <p:nvSpPr>
          <p:cNvPr id="10" name="TextBox 9"/>
          <p:cNvSpPr txBox="1"/>
          <p:nvPr/>
        </p:nvSpPr>
        <p:spPr>
          <a:xfrm>
            <a:off x="548640" y="3291840"/>
            <a:ext cx="457200" cy="274320"/>
          </a:xfrm>
          <a:prstGeom prst="rect">
            <a:avLst/>
          </a:prstGeom>
          <a:noFill/>
        </p:spPr>
        <p:txBody>
          <a:bodyPr wrap="none">
            <a:spAutoFit/>
          </a:bodyPr>
          <a:lstStyle/>
          <a:p>
            <a:r>
              <a:rPr sz="1200" b="1" i="0">
                <a:solidFill>
                  <a:srgbClr val="19376D"/>
                </a:solidFill>
                <a:latin typeface="Segoe UI"/>
              </a:rPr>
              <a:t>[2]</a:t>
            </a:r>
          </a:p>
        </p:txBody>
      </p:sp>
      <p:sp>
        <p:nvSpPr>
          <p:cNvPr id="11" name="TextBox 10"/>
          <p:cNvSpPr txBox="1"/>
          <p:nvPr/>
        </p:nvSpPr>
        <p:spPr>
          <a:xfrm>
            <a:off x="1005840" y="3291840"/>
            <a:ext cx="10637215" cy="731520"/>
          </a:xfrm>
          <a:prstGeom prst="rect">
            <a:avLst/>
          </a:prstGeom>
          <a:noFill/>
        </p:spPr>
        <p:txBody>
          <a:bodyPr wrap="square">
            <a:spAutoFit/>
          </a:bodyPr>
          <a:lstStyle/>
          <a:p>
            <a:pPr>
              <a:lnSpc>
                <a:spcPts val="1800"/>
              </a:lnSpc>
            </a:pPr>
            <a:r>
              <a:rPr sz="1100" b="0" i="0">
                <a:solidFill>
                  <a:srgbClr val="2D2D30"/>
                </a:solidFill>
                <a:latin typeface="Meiryo UI"/>
              </a:rPr>
              <a:t>FUJIFILM「N,N-ジメチルアクリルアミド」
https://labchem-wako.fujifilm.com/jp/product/detail/W01W0104-1918.html</a:t>
            </a:r>
          </a:p>
        </p:txBody>
      </p:sp>
      <p:sp>
        <p:nvSpPr>
          <p:cNvPr id="12" name="TextBox 11"/>
          <p:cNvSpPr txBox="1"/>
          <p:nvPr/>
        </p:nvSpPr>
        <p:spPr>
          <a:xfrm>
            <a:off x="548640" y="4114800"/>
            <a:ext cx="457200" cy="274320"/>
          </a:xfrm>
          <a:prstGeom prst="rect">
            <a:avLst/>
          </a:prstGeom>
          <a:noFill/>
        </p:spPr>
        <p:txBody>
          <a:bodyPr wrap="none">
            <a:spAutoFit/>
          </a:bodyPr>
          <a:lstStyle/>
          <a:p>
            <a:r>
              <a:rPr sz="1200" b="1" i="0">
                <a:solidFill>
                  <a:srgbClr val="19376D"/>
                </a:solidFill>
                <a:latin typeface="Segoe UI"/>
              </a:rPr>
              <a:t>[3]</a:t>
            </a:r>
          </a:p>
        </p:txBody>
      </p:sp>
      <p:sp>
        <p:nvSpPr>
          <p:cNvPr id="13" name="TextBox 12"/>
          <p:cNvSpPr txBox="1"/>
          <p:nvPr/>
        </p:nvSpPr>
        <p:spPr>
          <a:xfrm>
            <a:off x="1005840" y="4114800"/>
            <a:ext cx="10637215" cy="731520"/>
          </a:xfrm>
          <a:prstGeom prst="rect">
            <a:avLst/>
          </a:prstGeom>
          <a:noFill/>
        </p:spPr>
        <p:txBody>
          <a:bodyPr wrap="square">
            <a:spAutoFit/>
          </a:bodyPr>
          <a:lstStyle/>
          <a:p>
            <a:pPr>
              <a:lnSpc>
                <a:spcPts val="1800"/>
              </a:lnSpc>
            </a:pPr>
            <a:r>
              <a:rPr sz="1100" b="0" i="0">
                <a:solidFill>
                  <a:srgbClr val="2D2D30"/>
                </a:solidFill>
                <a:latin typeface="Meiryo UI"/>
              </a:rPr>
              <a:t>MilliporeSigma「α-ケトグルタル酸」
https://www.sigmaaldrich.com/JP/ja/product/sigma/k1750</a:t>
            </a:r>
          </a:p>
        </p:txBody>
      </p:sp>
      <p:sp>
        <p:nvSpPr>
          <p:cNvPr id="14" name="TextBox 13"/>
          <p:cNvSpPr txBox="1"/>
          <p:nvPr/>
        </p:nvSpPr>
        <p:spPr>
          <a:xfrm>
            <a:off x="548640" y="4937760"/>
            <a:ext cx="457200" cy="274320"/>
          </a:xfrm>
          <a:prstGeom prst="rect">
            <a:avLst/>
          </a:prstGeom>
          <a:noFill/>
        </p:spPr>
        <p:txBody>
          <a:bodyPr wrap="none">
            <a:spAutoFit/>
          </a:bodyPr>
          <a:lstStyle/>
          <a:p>
            <a:r>
              <a:rPr sz="1200" b="1" i="0">
                <a:solidFill>
                  <a:srgbClr val="19376D"/>
                </a:solidFill>
                <a:latin typeface="Segoe UI"/>
              </a:rPr>
              <a:t>[4]</a:t>
            </a:r>
          </a:p>
        </p:txBody>
      </p:sp>
      <p:sp>
        <p:nvSpPr>
          <p:cNvPr id="15" name="TextBox 14"/>
          <p:cNvSpPr txBox="1"/>
          <p:nvPr/>
        </p:nvSpPr>
        <p:spPr>
          <a:xfrm>
            <a:off x="1005840" y="4937760"/>
            <a:ext cx="10637215" cy="731520"/>
          </a:xfrm>
          <a:prstGeom prst="rect">
            <a:avLst/>
          </a:prstGeom>
          <a:noFill/>
        </p:spPr>
        <p:txBody>
          <a:bodyPr wrap="square">
            <a:spAutoFit/>
          </a:bodyPr>
          <a:lstStyle/>
          <a:p>
            <a:pPr>
              <a:lnSpc>
                <a:spcPts val="1800"/>
              </a:lnSpc>
            </a:pPr>
            <a:r>
              <a:rPr sz="1100" b="0" i="0">
                <a:solidFill>
                  <a:srgbClr val="2D2D30"/>
                </a:solidFill>
                <a:latin typeface="Meiryo UI"/>
              </a:rPr>
              <a:t>TCI「N,N'-Methylenebisacrylamide」
https://www.tcichemicals.com/JP/ja/p/M0506</a:t>
            </a:r>
          </a:p>
        </p:txBody>
      </p:sp>
      <p:sp>
        <p:nvSpPr>
          <p:cNvPr id="16" name="TextBox 15"/>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22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39</TotalTime>
  <Words>1185</Words>
  <Application>Microsoft Office PowerPoint</Application>
  <PresentationFormat>ワイド画面</PresentationFormat>
  <Paragraphs>196</Paragraphs>
  <Slides>23</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23</vt:i4>
      </vt:variant>
    </vt:vector>
  </HeadingPairs>
  <TitlesOfParts>
    <vt:vector size="28" baseType="lpstr">
      <vt:lpstr>Meiryo UI</vt:lpstr>
      <vt:lpstr>Arial</vt:lpstr>
      <vt:lpstr>Calibri</vt:lpstr>
      <vt:lpstr>Segoe UI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yoshito ueno</dc:creator>
  <cp:keywords/>
  <dc:description>generated using python-pptx</dc:description>
  <cp:lastModifiedBy>yoshito ueno</cp:lastModifiedBy>
  <cp:revision>4</cp:revision>
  <dcterms:created xsi:type="dcterms:W3CDTF">2013-01-27T09:14:16Z</dcterms:created>
  <dcterms:modified xsi:type="dcterms:W3CDTF">2026-02-17T05:42:06Z</dcterms:modified>
  <cp:category/>
</cp:coreProperties>
</file>